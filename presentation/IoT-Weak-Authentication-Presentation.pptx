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Comfortaa" panose="020B0604020202020204" charset="0"/>
      <p:regular r:id="rId16"/>
      <p:bold r:id="rId17"/>
    </p:embeddedFont>
    <p:embeddedFont>
      <p:font typeface="Lexend" panose="020B0604020202020204" charset="0"/>
      <p:regular r:id="rId18"/>
      <p:bold r:id="rId19"/>
    </p:embeddedFont>
    <p:embeddedFont>
      <p:font typeface="Lexend Light" panose="020B0604020202020204" charset="0"/>
      <p:regular r:id="rId20"/>
      <p:bold r:id="rId21"/>
    </p:embeddedFont>
    <p:embeddedFont>
      <p:font typeface="Roboto" panose="020000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71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f1832d37ba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f1832d37b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f1832d37ba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f1832d37ba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f1832d37ba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f1832d37ba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f1832d37ba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f1832d37ba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f1832d37ba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f1832d37ba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f1832d37ba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f1832d37ba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f1832d37ba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f1832d37ba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f1832d37ba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f1832d37ba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1832d37ba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f1832d37ba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f1832d37ba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f1832d37ba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1832d37ba_0_3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f1832d37ba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f1832d37ba_0_3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f1832d37ba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B539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53"/>
        <p:cNvGrpSpPr/>
        <p:nvPr/>
      </p:nvGrpSpPr>
      <p:grpSpPr>
        <a:xfrm>
          <a:off x="0" y="0"/>
          <a:ext cx="0" cy="0"/>
          <a:chOff x="0" y="0"/>
          <a:chExt cx="0" cy="0"/>
        </a:xfrm>
      </p:grpSpPr>
      <p:sp>
        <p:nvSpPr>
          <p:cNvPr id="54" name="Google Shape;54;p13"/>
          <p:cNvSpPr/>
          <p:nvPr/>
        </p:nvSpPr>
        <p:spPr>
          <a:xfrm>
            <a:off x="482500" y="1618800"/>
            <a:ext cx="8083200" cy="1634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55;p13"/>
          <p:cNvSpPr txBox="1">
            <a:spLocks noGrp="1"/>
          </p:cNvSpPr>
          <p:nvPr>
            <p:ph type="ctrTitle"/>
          </p:nvPr>
        </p:nvSpPr>
        <p:spPr>
          <a:xfrm>
            <a:off x="263808" y="1200300"/>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2900">
                <a:latin typeface="Lexend"/>
                <a:ea typeface="Lexend"/>
                <a:cs typeface="Lexend"/>
                <a:sym typeface="Lexend"/>
              </a:rPr>
              <a:t>Planning A Computing Project: </a:t>
            </a:r>
            <a:endParaRPr sz="2900">
              <a:latin typeface="Lexend"/>
              <a:ea typeface="Lexend"/>
              <a:cs typeface="Lexend"/>
              <a:sym typeface="Lexend"/>
            </a:endParaRPr>
          </a:p>
          <a:p>
            <a:pPr marL="0" lvl="0" indent="0" algn="ctr" rtl="0">
              <a:spcBef>
                <a:spcPts val="0"/>
              </a:spcBef>
              <a:spcAft>
                <a:spcPts val="0"/>
              </a:spcAft>
              <a:buNone/>
            </a:pPr>
            <a:r>
              <a:rPr lang="en" sz="2900">
                <a:latin typeface="Lexend"/>
                <a:ea typeface="Lexend"/>
                <a:cs typeface="Lexend"/>
                <a:sym typeface="Lexend"/>
              </a:rPr>
              <a:t>The Impact of Weak Authentication on IoT Device Security</a:t>
            </a:r>
            <a:endParaRPr sz="2900">
              <a:latin typeface="Lexend"/>
              <a:ea typeface="Lexend"/>
              <a:cs typeface="Lexend"/>
              <a:sym typeface="Lexend"/>
            </a:endParaRPr>
          </a:p>
        </p:txBody>
      </p:sp>
      <p:sp>
        <p:nvSpPr>
          <p:cNvPr id="56" name="Google Shape;56;p13"/>
          <p:cNvSpPr txBox="1">
            <a:spLocks noGrp="1"/>
          </p:cNvSpPr>
          <p:nvPr>
            <p:ph type="subTitle" idx="1"/>
          </p:nvPr>
        </p:nvSpPr>
        <p:spPr>
          <a:xfrm>
            <a:off x="148275" y="4064100"/>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400">
                <a:solidFill>
                  <a:schemeClr val="lt1"/>
                </a:solidFill>
                <a:latin typeface="Lexend"/>
                <a:ea typeface="Lexend"/>
                <a:cs typeface="Lexend"/>
                <a:sym typeface="Lexend"/>
              </a:rPr>
              <a:t>Thet Htoo Zin (Pearson ID: UE22116)</a:t>
            </a:r>
            <a:endParaRPr sz="1400">
              <a:solidFill>
                <a:schemeClr val="lt1"/>
              </a:solidFill>
              <a:latin typeface="Lexend"/>
              <a:ea typeface="Lexend"/>
              <a:cs typeface="Lexend"/>
              <a:sym typeface="Lexend"/>
            </a:endParaRPr>
          </a:p>
        </p:txBody>
      </p:sp>
      <p:pic>
        <p:nvPicPr>
          <p:cNvPr id="57" name="Google Shape;57;p13"/>
          <p:cNvPicPr preferRelativeResize="0"/>
          <p:nvPr/>
        </p:nvPicPr>
        <p:blipFill>
          <a:blip r:embed="rId3">
            <a:alphaModFix/>
          </a:blip>
          <a:stretch>
            <a:fillRect/>
          </a:stretch>
        </p:blipFill>
        <p:spPr>
          <a:xfrm>
            <a:off x="152400" y="152400"/>
            <a:ext cx="895500" cy="895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61"/>
        <p:cNvGrpSpPr/>
        <p:nvPr/>
      </p:nvGrpSpPr>
      <p:grpSpPr>
        <a:xfrm>
          <a:off x="0" y="0"/>
          <a:ext cx="0" cy="0"/>
          <a:chOff x="0" y="0"/>
          <a:chExt cx="0" cy="0"/>
        </a:xfrm>
      </p:grpSpPr>
      <p:sp>
        <p:nvSpPr>
          <p:cNvPr id="62" name="Google Shape;62;p14"/>
          <p:cNvSpPr/>
          <p:nvPr/>
        </p:nvSpPr>
        <p:spPr>
          <a:xfrm>
            <a:off x="5853400" y="1842425"/>
            <a:ext cx="2253600" cy="2064300"/>
          </a:xfrm>
          <a:prstGeom prst="flowChartAlternateProcess">
            <a:avLst/>
          </a:prstGeom>
          <a:solidFill>
            <a:srgbClr val="1C4587"/>
          </a:solid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63;p14"/>
          <p:cNvSpPr/>
          <p:nvPr/>
        </p:nvSpPr>
        <p:spPr>
          <a:xfrm>
            <a:off x="2991625" y="1842425"/>
            <a:ext cx="2253600" cy="2064300"/>
          </a:xfrm>
          <a:prstGeom prst="flowChartAlternateProcess">
            <a:avLst/>
          </a:prstGeom>
          <a:solidFill>
            <a:srgbClr val="1C4587"/>
          </a:solid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 name="Google Shape;64;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0FFFF"/>
                </a:solidFill>
                <a:latin typeface="Lexend"/>
                <a:ea typeface="Lexend"/>
                <a:cs typeface="Lexend"/>
                <a:sym typeface="Lexend"/>
              </a:rPr>
              <a:t>Project Overview &amp; Objectives</a:t>
            </a:r>
            <a:endParaRPr b="1">
              <a:solidFill>
                <a:srgbClr val="00FFFF"/>
              </a:solidFill>
              <a:latin typeface="Lexend"/>
              <a:ea typeface="Lexend"/>
              <a:cs typeface="Lexend"/>
              <a:sym typeface="Lexend"/>
            </a:endParaRPr>
          </a:p>
        </p:txBody>
      </p:sp>
      <p:sp>
        <p:nvSpPr>
          <p:cNvPr id="65" name="Google Shape;65;p14"/>
          <p:cNvSpPr/>
          <p:nvPr/>
        </p:nvSpPr>
        <p:spPr>
          <a:xfrm>
            <a:off x="430900" y="1842425"/>
            <a:ext cx="2253600" cy="2064300"/>
          </a:xfrm>
          <a:prstGeom prst="flowChartAlternateProcess">
            <a:avLst/>
          </a:prstGeom>
          <a:solidFill>
            <a:srgbClr val="1C4587"/>
          </a:solid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 name="Google Shape;66;p14"/>
          <p:cNvSpPr txBox="1"/>
          <p:nvPr/>
        </p:nvSpPr>
        <p:spPr>
          <a:xfrm>
            <a:off x="731950" y="1972650"/>
            <a:ext cx="1651500" cy="40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00FFFF"/>
                </a:solidFill>
                <a:latin typeface="Lexend"/>
                <a:ea typeface="Lexend"/>
                <a:cs typeface="Lexend"/>
                <a:sym typeface="Lexend"/>
              </a:rPr>
              <a:t>The Problem</a:t>
            </a:r>
            <a:endParaRPr sz="1800">
              <a:solidFill>
                <a:srgbClr val="00FFFF"/>
              </a:solidFill>
              <a:latin typeface="Lexend"/>
              <a:ea typeface="Lexend"/>
              <a:cs typeface="Lexend"/>
              <a:sym typeface="Lexend"/>
            </a:endParaRPr>
          </a:p>
        </p:txBody>
      </p:sp>
      <p:sp>
        <p:nvSpPr>
          <p:cNvPr id="67" name="Google Shape;67;p14"/>
          <p:cNvSpPr txBox="1"/>
          <p:nvPr/>
        </p:nvSpPr>
        <p:spPr>
          <a:xfrm>
            <a:off x="3185988" y="1972650"/>
            <a:ext cx="2772000" cy="40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00FFFF"/>
                </a:solidFill>
                <a:latin typeface="Lexend"/>
                <a:ea typeface="Lexend"/>
                <a:cs typeface="Lexend"/>
                <a:sym typeface="Lexend"/>
              </a:rPr>
              <a:t>Research Goal</a:t>
            </a:r>
            <a:endParaRPr sz="1800">
              <a:solidFill>
                <a:srgbClr val="00FFFF"/>
              </a:solidFill>
              <a:latin typeface="Lexend"/>
              <a:ea typeface="Lexend"/>
              <a:cs typeface="Lexend"/>
              <a:sym typeface="Lexend"/>
            </a:endParaRPr>
          </a:p>
        </p:txBody>
      </p:sp>
      <p:sp>
        <p:nvSpPr>
          <p:cNvPr id="68" name="Google Shape;68;p14"/>
          <p:cNvSpPr txBox="1"/>
          <p:nvPr/>
        </p:nvSpPr>
        <p:spPr>
          <a:xfrm>
            <a:off x="6459500" y="2025600"/>
            <a:ext cx="1651500" cy="30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00FFFF"/>
                </a:solidFill>
                <a:latin typeface="Lexend"/>
                <a:ea typeface="Lexend"/>
                <a:cs typeface="Lexend"/>
                <a:sym typeface="Lexend"/>
              </a:rPr>
              <a:t>Scope</a:t>
            </a:r>
            <a:endParaRPr sz="1800">
              <a:solidFill>
                <a:srgbClr val="00FFFF"/>
              </a:solidFill>
              <a:latin typeface="Lexend"/>
              <a:ea typeface="Lexend"/>
              <a:cs typeface="Lexend"/>
              <a:sym typeface="Lexend"/>
            </a:endParaRPr>
          </a:p>
        </p:txBody>
      </p:sp>
      <p:sp>
        <p:nvSpPr>
          <p:cNvPr id="69" name="Google Shape;69;p14"/>
          <p:cNvSpPr txBox="1"/>
          <p:nvPr/>
        </p:nvSpPr>
        <p:spPr>
          <a:xfrm>
            <a:off x="607300" y="2440175"/>
            <a:ext cx="1900800" cy="1075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chemeClr val="lt1"/>
                </a:solidFill>
                <a:latin typeface="Lexend Light"/>
                <a:ea typeface="Lexend Light"/>
                <a:cs typeface="Lexend Light"/>
                <a:sym typeface="Lexend Light"/>
              </a:rPr>
              <a:t>IoT devices are convenience</a:t>
            </a:r>
            <a:endParaRPr sz="1000">
              <a:solidFill>
                <a:schemeClr val="lt1"/>
              </a:solidFill>
              <a:latin typeface="Lexend Light"/>
              <a:ea typeface="Lexend Light"/>
              <a:cs typeface="Lexend Light"/>
              <a:sym typeface="Lexend Light"/>
            </a:endParaRPr>
          </a:p>
          <a:p>
            <a:pPr marL="0" lvl="0" indent="0" algn="ctr" rtl="0">
              <a:lnSpc>
                <a:spcPct val="115000"/>
              </a:lnSpc>
              <a:spcBef>
                <a:spcPts val="0"/>
              </a:spcBef>
              <a:spcAft>
                <a:spcPts val="0"/>
              </a:spcAft>
              <a:buNone/>
            </a:pPr>
            <a:r>
              <a:rPr lang="en" sz="1000">
                <a:solidFill>
                  <a:schemeClr val="lt1"/>
                </a:solidFill>
                <a:latin typeface="Lexend Light"/>
                <a:ea typeface="Lexend Light"/>
                <a:cs typeface="Lexend Light"/>
                <a:sym typeface="Lexend Light"/>
              </a:rPr>
              <a:t>but it might happen critical</a:t>
            </a:r>
            <a:endParaRPr sz="1000">
              <a:solidFill>
                <a:schemeClr val="lt1"/>
              </a:solidFill>
              <a:latin typeface="Lexend Light"/>
              <a:ea typeface="Lexend Light"/>
              <a:cs typeface="Lexend Light"/>
              <a:sym typeface="Lexend Light"/>
            </a:endParaRPr>
          </a:p>
          <a:p>
            <a:pPr marL="0" lvl="0" indent="0" algn="ctr" rtl="0">
              <a:lnSpc>
                <a:spcPct val="115000"/>
              </a:lnSpc>
              <a:spcBef>
                <a:spcPts val="0"/>
              </a:spcBef>
              <a:spcAft>
                <a:spcPts val="0"/>
              </a:spcAft>
              <a:buNone/>
            </a:pPr>
            <a:r>
              <a:rPr lang="en" sz="1000">
                <a:solidFill>
                  <a:schemeClr val="lt1"/>
                </a:solidFill>
                <a:latin typeface="Lexend Light"/>
                <a:ea typeface="Lexend Light"/>
                <a:cs typeface="Lexend Light"/>
                <a:sym typeface="Lexend Light"/>
              </a:rPr>
              <a:t>network vulnerabilities because of weak authentication.</a:t>
            </a:r>
            <a:endParaRPr sz="1000">
              <a:solidFill>
                <a:schemeClr val="lt1"/>
              </a:solidFill>
              <a:latin typeface="Lexend Light"/>
              <a:ea typeface="Lexend Light"/>
              <a:cs typeface="Lexend Light"/>
              <a:sym typeface="Lexend Light"/>
            </a:endParaRPr>
          </a:p>
        </p:txBody>
      </p:sp>
      <p:sp>
        <p:nvSpPr>
          <p:cNvPr id="70" name="Google Shape;70;p14"/>
          <p:cNvSpPr txBox="1"/>
          <p:nvPr/>
        </p:nvSpPr>
        <p:spPr>
          <a:xfrm>
            <a:off x="3168025" y="2485750"/>
            <a:ext cx="1900800" cy="1075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chemeClr val="lt1"/>
                </a:solidFill>
                <a:latin typeface="Lexend Light"/>
                <a:ea typeface="Lexend Light"/>
                <a:cs typeface="Lexend Light"/>
                <a:sym typeface="Lexend Light"/>
              </a:rPr>
              <a:t>Gather data on the vulnerabilities caused by authentication weakness and deliver systematic framework for security enhancement.</a:t>
            </a:r>
            <a:endParaRPr sz="1000">
              <a:solidFill>
                <a:schemeClr val="lt1"/>
              </a:solidFill>
              <a:latin typeface="Lexend Light"/>
              <a:ea typeface="Lexend Light"/>
              <a:cs typeface="Lexend Light"/>
              <a:sym typeface="Lexend Light"/>
            </a:endParaRPr>
          </a:p>
        </p:txBody>
      </p:sp>
      <p:sp>
        <p:nvSpPr>
          <p:cNvPr id="71" name="Google Shape;71;p14"/>
          <p:cNvSpPr txBox="1"/>
          <p:nvPr/>
        </p:nvSpPr>
        <p:spPr>
          <a:xfrm>
            <a:off x="6029800" y="2485750"/>
            <a:ext cx="1900800" cy="1075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a:solidFill>
                  <a:schemeClr val="lt1"/>
                </a:solidFill>
                <a:latin typeface="Lexend Light"/>
                <a:ea typeface="Lexend Light"/>
                <a:cs typeface="Lexend Light"/>
                <a:sym typeface="Lexend Light"/>
              </a:rPr>
              <a:t>Examine user behavior in device configuration and </a:t>
            </a:r>
            <a:endParaRPr sz="1000">
              <a:solidFill>
                <a:schemeClr val="lt1"/>
              </a:solidFill>
              <a:latin typeface="Lexend Light"/>
              <a:ea typeface="Lexend Light"/>
              <a:cs typeface="Lexend Light"/>
              <a:sym typeface="Lexend Light"/>
            </a:endParaRPr>
          </a:p>
          <a:p>
            <a:pPr marL="0" lvl="0" indent="0" algn="ctr" rtl="0">
              <a:lnSpc>
                <a:spcPct val="115000"/>
              </a:lnSpc>
              <a:spcBef>
                <a:spcPts val="0"/>
              </a:spcBef>
              <a:spcAft>
                <a:spcPts val="0"/>
              </a:spcAft>
              <a:buNone/>
            </a:pPr>
            <a:r>
              <a:rPr lang="en" sz="1000">
                <a:solidFill>
                  <a:schemeClr val="lt1"/>
                </a:solidFill>
                <a:latin typeface="Lexend Light"/>
                <a:ea typeface="Lexend Light"/>
                <a:cs typeface="Lexend Light"/>
                <a:sym typeface="Lexend Light"/>
              </a:rPr>
              <a:t>Technical  vulnerabilities discovered across 52 different IoT management platforms.</a:t>
            </a:r>
            <a:endParaRPr sz="1000">
              <a:solidFill>
                <a:schemeClr val="lt1"/>
              </a:solidFill>
              <a:latin typeface="Lexend Light"/>
              <a:ea typeface="Lexend Light"/>
              <a:cs typeface="Lexend Light"/>
              <a:sym typeface="Lexen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0FFFF"/>
                </a:solidFill>
                <a:latin typeface="Lexend"/>
                <a:ea typeface="Lexend"/>
                <a:cs typeface="Lexend"/>
                <a:sym typeface="Lexend"/>
              </a:rPr>
              <a:t>Sector Analysis and Business Alignment</a:t>
            </a:r>
            <a:endParaRPr b="1">
              <a:solidFill>
                <a:srgbClr val="00FFFF"/>
              </a:solidFill>
              <a:latin typeface="Lexend"/>
              <a:ea typeface="Lexend"/>
              <a:cs typeface="Lexend"/>
              <a:sym typeface="Lexend"/>
            </a:endParaRPr>
          </a:p>
        </p:txBody>
      </p:sp>
      <p:sp>
        <p:nvSpPr>
          <p:cNvPr id="77" name="Google Shape;77;p15"/>
          <p:cNvSpPr/>
          <p:nvPr/>
        </p:nvSpPr>
        <p:spPr>
          <a:xfrm>
            <a:off x="311700" y="1713425"/>
            <a:ext cx="3999600" cy="2502900"/>
          </a:xfrm>
          <a:prstGeom prst="roundRect">
            <a:avLst>
              <a:gd name="adj" fmla="val 16667"/>
            </a:avLst>
          </a:prstGeom>
          <a:solidFill>
            <a:srgbClr val="0B5394"/>
          </a:solidFill>
          <a:ln w="952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 name="Google Shape;78;p15"/>
          <p:cNvSpPr/>
          <p:nvPr/>
        </p:nvSpPr>
        <p:spPr>
          <a:xfrm>
            <a:off x="4883900" y="1713425"/>
            <a:ext cx="3999600" cy="2502900"/>
          </a:xfrm>
          <a:prstGeom prst="roundRect">
            <a:avLst>
              <a:gd name="adj" fmla="val 16667"/>
            </a:avLst>
          </a:prstGeom>
          <a:solidFill>
            <a:srgbClr val="0B5394"/>
          </a:solidFill>
          <a:ln w="952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5"/>
          <p:cNvSpPr txBox="1"/>
          <p:nvPr/>
        </p:nvSpPr>
        <p:spPr>
          <a:xfrm>
            <a:off x="379325" y="1807925"/>
            <a:ext cx="4326300" cy="66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00FFFF"/>
                </a:solidFill>
                <a:latin typeface="Lexend"/>
                <a:ea typeface="Lexend"/>
                <a:cs typeface="Lexend"/>
                <a:sym typeface="Lexend"/>
              </a:rPr>
              <a:t>Iot Management Platform Sector</a:t>
            </a:r>
            <a:endParaRPr sz="1700" b="1">
              <a:solidFill>
                <a:srgbClr val="00FFFF"/>
              </a:solidFill>
              <a:latin typeface="Lexend"/>
              <a:ea typeface="Lexend"/>
              <a:cs typeface="Lexend"/>
              <a:sym typeface="Lexend"/>
            </a:endParaRPr>
          </a:p>
        </p:txBody>
      </p:sp>
      <p:sp>
        <p:nvSpPr>
          <p:cNvPr id="80" name="Google Shape;80;p15"/>
          <p:cNvSpPr txBox="1"/>
          <p:nvPr/>
        </p:nvSpPr>
        <p:spPr>
          <a:xfrm>
            <a:off x="4883900" y="1807925"/>
            <a:ext cx="4326300" cy="66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00FFFF"/>
                </a:solidFill>
                <a:latin typeface="Lexend"/>
                <a:ea typeface="Lexend"/>
                <a:cs typeface="Lexend"/>
                <a:sym typeface="Lexend"/>
              </a:rPr>
              <a:t>Organizational Needs</a:t>
            </a:r>
            <a:endParaRPr sz="1800" b="1">
              <a:solidFill>
                <a:srgbClr val="00FFFF"/>
              </a:solidFill>
              <a:latin typeface="Lexend"/>
              <a:ea typeface="Lexend"/>
              <a:cs typeface="Lexend"/>
              <a:sym typeface="Lexend"/>
            </a:endParaRPr>
          </a:p>
        </p:txBody>
      </p:sp>
      <p:sp>
        <p:nvSpPr>
          <p:cNvPr id="81" name="Google Shape;81;p15"/>
          <p:cNvSpPr txBox="1"/>
          <p:nvPr/>
        </p:nvSpPr>
        <p:spPr>
          <a:xfrm>
            <a:off x="448125" y="2367100"/>
            <a:ext cx="3732900" cy="154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lt1"/>
                </a:solidFill>
                <a:latin typeface="Lexend"/>
                <a:ea typeface="Lexend"/>
                <a:cs typeface="Lexend"/>
                <a:sym typeface="Lexend"/>
              </a:rPr>
              <a:t>In this sector, it goes beyond the Consumer and Enterprise and the Industrial. Real time monitoring, automated environment notification and multi user access control structure are essential core operations capabilities. </a:t>
            </a:r>
            <a:endParaRPr sz="1300">
              <a:solidFill>
                <a:schemeClr val="lt1"/>
              </a:solidFill>
              <a:latin typeface="Lexend"/>
              <a:ea typeface="Lexend"/>
              <a:cs typeface="Lexend"/>
              <a:sym typeface="Lexend"/>
            </a:endParaRPr>
          </a:p>
        </p:txBody>
      </p:sp>
      <p:sp>
        <p:nvSpPr>
          <p:cNvPr id="82" name="Google Shape;82;p15"/>
          <p:cNvSpPr txBox="1"/>
          <p:nvPr/>
        </p:nvSpPr>
        <p:spPr>
          <a:xfrm>
            <a:off x="4961325" y="2330275"/>
            <a:ext cx="3732900" cy="1548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300">
                <a:solidFill>
                  <a:schemeClr val="lt1"/>
                </a:solidFill>
                <a:latin typeface="Lexend"/>
                <a:ea typeface="Lexend"/>
                <a:cs typeface="Lexend"/>
                <a:sym typeface="Lexend"/>
              </a:rPr>
              <a:t>The focus of this research is clear and shows how "broken authentication" paths can result in data forging in the context of the requirements of the sectors involved. It will align with the University's critical requirement to provide security to safeguard vital student data and financial transactions from cyberthreats. </a:t>
            </a:r>
            <a:r>
              <a:rPr lang="en" sz="1200">
                <a:solidFill>
                  <a:schemeClr val="lt1"/>
                </a:solidFill>
                <a:latin typeface="Lexend"/>
                <a:ea typeface="Lexend"/>
                <a:cs typeface="Lexend"/>
                <a:sym typeface="Lexend"/>
              </a:rPr>
              <a:t> </a:t>
            </a:r>
            <a:endParaRPr sz="1200">
              <a:solidFill>
                <a:schemeClr val="lt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0FFFF"/>
                </a:solidFill>
                <a:latin typeface="Lexend"/>
                <a:ea typeface="Lexend"/>
                <a:cs typeface="Lexend"/>
                <a:sym typeface="Lexend"/>
              </a:rPr>
              <a:t>Methodology and Reliability</a:t>
            </a:r>
            <a:endParaRPr b="1">
              <a:solidFill>
                <a:srgbClr val="00FFFF"/>
              </a:solidFill>
              <a:latin typeface="Lexend"/>
              <a:ea typeface="Lexend"/>
              <a:cs typeface="Lexend"/>
              <a:sym typeface="Lexend"/>
            </a:endParaRPr>
          </a:p>
        </p:txBody>
      </p:sp>
      <p:sp>
        <p:nvSpPr>
          <p:cNvPr id="88" name="Google Shape;88;p16"/>
          <p:cNvSpPr txBox="1"/>
          <p:nvPr/>
        </p:nvSpPr>
        <p:spPr>
          <a:xfrm>
            <a:off x="301900" y="1472575"/>
            <a:ext cx="4464000" cy="3165300"/>
          </a:xfrm>
          <a:prstGeom prst="rect">
            <a:avLst/>
          </a:prstGeom>
          <a:noFill/>
          <a:ln>
            <a:noFill/>
          </a:ln>
        </p:spPr>
        <p:txBody>
          <a:bodyPr spcFirstLastPara="1" wrap="square" lIns="91425" tIns="91425" rIns="91425" bIns="91425" anchor="t" anchorCtr="0">
            <a:noAutofit/>
          </a:bodyPr>
          <a:lstStyle/>
          <a:p>
            <a:pPr marL="457200" lvl="0" indent="-311150" algn="just" rtl="0">
              <a:spcBef>
                <a:spcPts val="0"/>
              </a:spcBef>
              <a:spcAft>
                <a:spcPts val="0"/>
              </a:spcAft>
              <a:buClr>
                <a:schemeClr val="lt1"/>
              </a:buClr>
              <a:buSzPts val="1300"/>
              <a:buFont typeface="Lexend"/>
              <a:buChar char="●"/>
            </a:pPr>
            <a:r>
              <a:rPr lang="en" sz="1300">
                <a:solidFill>
                  <a:schemeClr val="lt1"/>
                </a:solidFill>
                <a:latin typeface="Lexend"/>
                <a:ea typeface="Lexend"/>
                <a:cs typeface="Lexend"/>
                <a:sym typeface="Lexend"/>
              </a:rPr>
              <a:t>Mixed Methods Approach: same accuracy as the quantitative approach combined with qualitative analysis of actual device setups. </a:t>
            </a:r>
            <a:endParaRPr sz="1300">
              <a:solidFill>
                <a:schemeClr val="lt1"/>
              </a:solidFill>
              <a:latin typeface="Lexend"/>
              <a:ea typeface="Lexend"/>
              <a:cs typeface="Lexend"/>
              <a:sym typeface="Lexend"/>
            </a:endParaRPr>
          </a:p>
          <a:p>
            <a:pPr marL="457200" lvl="0" indent="0" algn="just" rtl="0">
              <a:spcBef>
                <a:spcPts val="0"/>
              </a:spcBef>
              <a:spcAft>
                <a:spcPts val="0"/>
              </a:spcAft>
              <a:buNone/>
            </a:pPr>
            <a:endParaRPr sz="1300">
              <a:solidFill>
                <a:schemeClr val="lt1"/>
              </a:solidFill>
              <a:latin typeface="Lexend"/>
              <a:ea typeface="Lexend"/>
              <a:cs typeface="Lexend"/>
              <a:sym typeface="Lexend"/>
            </a:endParaRPr>
          </a:p>
          <a:p>
            <a:pPr marL="457200" lvl="0" indent="-311150" algn="just" rtl="0">
              <a:spcBef>
                <a:spcPts val="0"/>
              </a:spcBef>
              <a:spcAft>
                <a:spcPts val="0"/>
              </a:spcAft>
              <a:buClr>
                <a:schemeClr val="lt1"/>
              </a:buClr>
              <a:buSzPts val="1300"/>
              <a:buFont typeface="Lexend"/>
              <a:buChar char="●"/>
            </a:pPr>
            <a:r>
              <a:rPr lang="en" sz="1300">
                <a:solidFill>
                  <a:schemeClr val="lt1"/>
                </a:solidFill>
                <a:latin typeface="Lexend"/>
                <a:ea typeface="Lexend"/>
                <a:cs typeface="Lexend"/>
                <a:sym typeface="Lexend"/>
              </a:rPr>
              <a:t>Primary Research: 46 respondents had been surveyed. Provides detailed behavioural information but has restricted inferences because of small samples of participants and a possible bias from the self-report data. </a:t>
            </a:r>
            <a:endParaRPr sz="1300">
              <a:solidFill>
                <a:schemeClr val="lt1"/>
              </a:solidFill>
              <a:latin typeface="Lexend"/>
              <a:ea typeface="Lexend"/>
              <a:cs typeface="Lexend"/>
              <a:sym typeface="Lexend"/>
            </a:endParaRPr>
          </a:p>
          <a:p>
            <a:pPr marL="457200" lvl="0" indent="0" algn="just" rtl="0">
              <a:spcBef>
                <a:spcPts val="0"/>
              </a:spcBef>
              <a:spcAft>
                <a:spcPts val="0"/>
              </a:spcAft>
              <a:buNone/>
            </a:pPr>
            <a:endParaRPr sz="1300">
              <a:solidFill>
                <a:schemeClr val="lt1"/>
              </a:solidFill>
              <a:latin typeface="Lexend"/>
              <a:ea typeface="Lexend"/>
              <a:cs typeface="Lexend"/>
              <a:sym typeface="Lexend"/>
            </a:endParaRPr>
          </a:p>
          <a:p>
            <a:pPr marL="457200" lvl="0" indent="-311150" algn="just" rtl="0">
              <a:spcBef>
                <a:spcPts val="0"/>
              </a:spcBef>
              <a:spcAft>
                <a:spcPts val="0"/>
              </a:spcAft>
              <a:buClr>
                <a:schemeClr val="lt1"/>
              </a:buClr>
              <a:buSzPts val="1300"/>
              <a:buFont typeface="Lexend"/>
              <a:buChar char="●"/>
            </a:pPr>
            <a:r>
              <a:rPr lang="en" sz="1300">
                <a:solidFill>
                  <a:schemeClr val="lt1"/>
                </a:solidFill>
                <a:latin typeface="Lexend"/>
                <a:ea typeface="Lexend"/>
                <a:cs typeface="Lexend"/>
                <a:sym typeface="Lexend"/>
              </a:rPr>
              <a:t>Secondary Research: 52 IoT platforms were tested using the empirical approach and analyzed after peer review is performed. Very stable reference level of technical gaps. </a:t>
            </a:r>
            <a:endParaRPr sz="1300">
              <a:solidFill>
                <a:schemeClr val="lt1"/>
              </a:solidFill>
              <a:latin typeface="Lexend"/>
              <a:ea typeface="Lexend"/>
              <a:cs typeface="Lexend"/>
              <a:sym typeface="Lexend"/>
            </a:endParaRPr>
          </a:p>
          <a:p>
            <a:pPr marL="457200" lvl="0" indent="0" algn="l" rtl="0">
              <a:spcBef>
                <a:spcPts val="0"/>
              </a:spcBef>
              <a:spcAft>
                <a:spcPts val="0"/>
              </a:spcAft>
              <a:buNone/>
            </a:pPr>
            <a:endParaRPr sz="1300">
              <a:solidFill>
                <a:schemeClr val="lt1"/>
              </a:solidFill>
              <a:latin typeface="Lexend"/>
              <a:ea typeface="Lexend"/>
              <a:cs typeface="Lexend"/>
              <a:sym typeface="Lexend"/>
            </a:endParaRPr>
          </a:p>
          <a:p>
            <a:pPr marL="0" lvl="0" indent="0" algn="l" rtl="0">
              <a:spcBef>
                <a:spcPts val="0"/>
              </a:spcBef>
              <a:spcAft>
                <a:spcPts val="0"/>
              </a:spcAft>
              <a:buNone/>
            </a:pPr>
            <a:endParaRPr sz="1300">
              <a:solidFill>
                <a:schemeClr val="lt1"/>
              </a:solidFill>
              <a:latin typeface="Lexend"/>
              <a:ea typeface="Lexend"/>
              <a:cs typeface="Lexend"/>
              <a:sym typeface="Lexend"/>
            </a:endParaRPr>
          </a:p>
          <a:p>
            <a:pPr marL="0" lvl="0" indent="0" algn="l" rtl="0">
              <a:spcBef>
                <a:spcPts val="0"/>
              </a:spcBef>
              <a:spcAft>
                <a:spcPts val="0"/>
              </a:spcAft>
              <a:buNone/>
            </a:pPr>
            <a:endParaRPr sz="1300">
              <a:solidFill>
                <a:schemeClr val="lt1"/>
              </a:solidFill>
              <a:latin typeface="Lexend"/>
              <a:ea typeface="Lexend"/>
              <a:cs typeface="Lexend"/>
              <a:sym typeface="Lexend"/>
            </a:endParaRPr>
          </a:p>
        </p:txBody>
      </p:sp>
      <p:pic>
        <p:nvPicPr>
          <p:cNvPr id="89" name="Google Shape;89;p16" title="Screenshot 2026-06-20 190433.png"/>
          <p:cNvPicPr preferRelativeResize="0"/>
          <p:nvPr/>
        </p:nvPicPr>
        <p:blipFill rotWithShape="1">
          <a:blip r:embed="rId3">
            <a:alphaModFix/>
          </a:blip>
          <a:srcRect l="3670"/>
          <a:stretch/>
        </p:blipFill>
        <p:spPr>
          <a:xfrm>
            <a:off x="4805125" y="1259700"/>
            <a:ext cx="4227075" cy="33781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0FFFF"/>
                </a:solidFill>
                <a:latin typeface="Lexend"/>
                <a:ea typeface="Lexend"/>
                <a:cs typeface="Lexend"/>
                <a:sym typeface="Lexend"/>
              </a:rPr>
              <a:t>Key Findings: The Awareness Gap</a:t>
            </a:r>
            <a:endParaRPr b="1">
              <a:solidFill>
                <a:srgbClr val="00FFFF"/>
              </a:solidFill>
              <a:latin typeface="Lexend"/>
              <a:ea typeface="Lexend"/>
              <a:cs typeface="Lexend"/>
              <a:sym typeface="Lexend"/>
            </a:endParaRPr>
          </a:p>
        </p:txBody>
      </p:sp>
      <p:pic>
        <p:nvPicPr>
          <p:cNvPr id="95" name="Google Shape;95;p17"/>
          <p:cNvPicPr preferRelativeResize="0"/>
          <p:nvPr/>
        </p:nvPicPr>
        <p:blipFill>
          <a:blip r:embed="rId3">
            <a:alphaModFix/>
          </a:blip>
          <a:stretch>
            <a:fillRect/>
          </a:stretch>
        </p:blipFill>
        <p:spPr>
          <a:xfrm>
            <a:off x="599675" y="1947600"/>
            <a:ext cx="3529750" cy="2071875"/>
          </a:xfrm>
          <a:prstGeom prst="rect">
            <a:avLst/>
          </a:prstGeom>
          <a:noFill/>
          <a:ln>
            <a:noFill/>
          </a:ln>
        </p:spPr>
      </p:pic>
      <p:sp>
        <p:nvSpPr>
          <p:cNvPr id="96" name="Google Shape;96;p17"/>
          <p:cNvSpPr txBox="1"/>
          <p:nvPr/>
        </p:nvSpPr>
        <p:spPr>
          <a:xfrm>
            <a:off x="4748700" y="1661800"/>
            <a:ext cx="4083600" cy="279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1"/>
                </a:solidFill>
                <a:latin typeface="Lexend"/>
                <a:ea typeface="Lexend"/>
                <a:cs typeface="Lexend"/>
                <a:sym typeface="Lexend"/>
              </a:rPr>
              <a:t>High Awareness But Poor Action</a:t>
            </a:r>
            <a:endParaRPr sz="1800" b="1">
              <a:solidFill>
                <a:schemeClr val="lt1"/>
              </a:solidFill>
              <a:latin typeface="Lexend"/>
              <a:ea typeface="Lexend"/>
              <a:cs typeface="Lexend"/>
              <a:sym typeface="Lexend"/>
            </a:endParaRPr>
          </a:p>
          <a:p>
            <a:pPr marL="0" lvl="0" indent="0" algn="l" rtl="0">
              <a:spcBef>
                <a:spcPts val="0"/>
              </a:spcBef>
              <a:spcAft>
                <a:spcPts val="0"/>
              </a:spcAft>
              <a:buNone/>
            </a:pPr>
            <a:endParaRPr sz="1800" b="1">
              <a:solidFill>
                <a:schemeClr val="lt1"/>
              </a:solidFill>
              <a:latin typeface="Lexend"/>
              <a:ea typeface="Lexend"/>
              <a:cs typeface="Lexend"/>
              <a:sym typeface="Lexend"/>
            </a:endParaRPr>
          </a:p>
          <a:p>
            <a:pPr marL="0" lvl="0" indent="0" algn="just" rtl="0">
              <a:spcBef>
                <a:spcPts val="0"/>
              </a:spcBef>
              <a:spcAft>
                <a:spcPts val="0"/>
              </a:spcAft>
              <a:buNone/>
            </a:pPr>
            <a:r>
              <a:rPr lang="en" sz="1200">
                <a:solidFill>
                  <a:schemeClr val="lt1"/>
                </a:solidFill>
                <a:latin typeface="Lexend"/>
                <a:ea typeface="Lexend"/>
                <a:cs typeface="Lexend"/>
                <a:sym typeface="Lexend"/>
              </a:rPr>
              <a:t>While it is clear that both policy adherence to passwords (93.5%) and actively using MFA (80.4%) have improved, the spread of dangerous credentials reuse continues to be common across devices. </a:t>
            </a:r>
            <a:endParaRPr sz="1200">
              <a:solidFill>
                <a:schemeClr val="lt1"/>
              </a:solidFill>
              <a:latin typeface="Lexend"/>
              <a:ea typeface="Lexend"/>
              <a:cs typeface="Lexend"/>
              <a:sym typeface="Lexend"/>
            </a:endParaRPr>
          </a:p>
          <a:p>
            <a:pPr marL="0" lvl="0" indent="0" algn="just" rtl="0">
              <a:spcBef>
                <a:spcPts val="0"/>
              </a:spcBef>
              <a:spcAft>
                <a:spcPts val="0"/>
              </a:spcAft>
              <a:buNone/>
            </a:pPr>
            <a:endParaRPr sz="1200">
              <a:solidFill>
                <a:schemeClr val="lt1"/>
              </a:solidFill>
              <a:latin typeface="Lexend"/>
              <a:ea typeface="Lexend"/>
              <a:cs typeface="Lexend"/>
              <a:sym typeface="Lexend"/>
            </a:endParaRPr>
          </a:p>
          <a:p>
            <a:pPr marL="0" lvl="0" indent="0" algn="just" rtl="0">
              <a:spcBef>
                <a:spcPts val="0"/>
              </a:spcBef>
              <a:spcAft>
                <a:spcPts val="0"/>
              </a:spcAft>
              <a:buNone/>
            </a:pPr>
            <a:r>
              <a:rPr lang="en" sz="1200">
                <a:solidFill>
                  <a:schemeClr val="lt1"/>
                </a:solidFill>
                <a:latin typeface="Lexend"/>
                <a:ea typeface="Lexend"/>
                <a:cs typeface="Lexend"/>
                <a:sym typeface="Lexend"/>
              </a:rPr>
              <a:t>Users cite this friction as “cognitive fatigue” (loss of memory of setting up, making them feel like they cannot remember the unique strings), and frustrating configurations that make it too hard to make security changes. </a:t>
            </a:r>
            <a:endParaRPr sz="1200">
              <a:solidFill>
                <a:schemeClr val="lt1"/>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0FFFF"/>
                </a:solidFill>
                <a:latin typeface="Lexend"/>
                <a:ea typeface="Lexend"/>
                <a:cs typeface="Lexend"/>
                <a:sym typeface="Lexend"/>
              </a:rPr>
              <a:t>Challenges In Myanmar</a:t>
            </a:r>
            <a:endParaRPr b="1">
              <a:solidFill>
                <a:srgbClr val="00FFFF"/>
              </a:solidFill>
              <a:latin typeface="Lexend"/>
              <a:ea typeface="Lexend"/>
              <a:cs typeface="Lexend"/>
              <a:sym typeface="Lexend"/>
            </a:endParaRPr>
          </a:p>
        </p:txBody>
      </p:sp>
      <p:sp>
        <p:nvSpPr>
          <p:cNvPr id="102" name="Google Shape;102;p18"/>
          <p:cNvSpPr txBox="1"/>
          <p:nvPr/>
        </p:nvSpPr>
        <p:spPr>
          <a:xfrm>
            <a:off x="387900" y="1410600"/>
            <a:ext cx="7551900" cy="2322300"/>
          </a:xfrm>
          <a:prstGeom prst="rect">
            <a:avLst/>
          </a:prstGeom>
          <a:noFill/>
          <a:ln>
            <a:noFill/>
          </a:ln>
        </p:spPr>
        <p:txBody>
          <a:bodyPr spcFirstLastPara="1" wrap="square" lIns="91425" tIns="91425" rIns="91425" bIns="91425" anchor="t" anchorCtr="0">
            <a:noAutofit/>
          </a:bodyPr>
          <a:lstStyle/>
          <a:p>
            <a:pPr marL="457200" lvl="0" indent="-317500" algn="just" rtl="0">
              <a:lnSpc>
                <a:spcPct val="150000"/>
              </a:lnSpc>
              <a:spcBef>
                <a:spcPts val="0"/>
              </a:spcBef>
              <a:spcAft>
                <a:spcPts val="0"/>
              </a:spcAft>
              <a:buClr>
                <a:schemeClr val="lt1"/>
              </a:buClr>
              <a:buSzPts val="1400"/>
              <a:buFont typeface="Lexend"/>
              <a:buChar char="➢"/>
            </a:pPr>
            <a:r>
              <a:rPr lang="en">
                <a:solidFill>
                  <a:schemeClr val="lt1"/>
                </a:solidFill>
                <a:latin typeface="Lexend"/>
                <a:ea typeface="Lexend"/>
                <a:cs typeface="Lexend"/>
                <a:sym typeface="Lexend"/>
              </a:rPr>
              <a:t>Infrastructure Failure: 63% of respondents consider power failures and regular drops in the internet connection to be a significant cyber security danger.</a:t>
            </a:r>
            <a:endParaRPr>
              <a:solidFill>
                <a:schemeClr val="lt1"/>
              </a:solidFill>
              <a:latin typeface="Lexend"/>
              <a:ea typeface="Lexend"/>
              <a:cs typeface="Lexend"/>
              <a:sym typeface="Lexend"/>
            </a:endParaRPr>
          </a:p>
          <a:p>
            <a:pPr marL="457200" lvl="0" indent="0" algn="just" rtl="0">
              <a:lnSpc>
                <a:spcPct val="150000"/>
              </a:lnSpc>
              <a:spcBef>
                <a:spcPts val="0"/>
              </a:spcBef>
              <a:spcAft>
                <a:spcPts val="0"/>
              </a:spcAft>
              <a:buNone/>
            </a:pPr>
            <a:endParaRPr>
              <a:solidFill>
                <a:schemeClr val="lt1"/>
              </a:solidFill>
              <a:latin typeface="Lexend"/>
              <a:ea typeface="Lexend"/>
              <a:cs typeface="Lexend"/>
              <a:sym typeface="Lexend"/>
            </a:endParaRPr>
          </a:p>
          <a:p>
            <a:pPr marL="457200" lvl="0" indent="-317500" algn="just" rtl="0">
              <a:lnSpc>
                <a:spcPct val="150000"/>
              </a:lnSpc>
              <a:spcBef>
                <a:spcPts val="0"/>
              </a:spcBef>
              <a:spcAft>
                <a:spcPts val="0"/>
              </a:spcAft>
              <a:buClr>
                <a:schemeClr val="lt1"/>
              </a:buClr>
              <a:buSzPts val="1400"/>
              <a:buFont typeface="Lexend"/>
              <a:buChar char="➢"/>
            </a:pPr>
            <a:r>
              <a:rPr lang="en">
                <a:solidFill>
                  <a:schemeClr val="lt1"/>
                </a:solidFill>
                <a:latin typeface="Lexend"/>
                <a:ea typeface="Lexend"/>
                <a:cs typeface="Lexend"/>
                <a:sym typeface="Lexend"/>
              </a:rPr>
              <a:t>Bricked Firmware: Power is off during operation when updating/modifying devices, the systems are reset to highly insecure factory default settings.</a:t>
            </a:r>
            <a:endParaRPr>
              <a:solidFill>
                <a:schemeClr val="lt1"/>
              </a:solidFill>
              <a:latin typeface="Lexend"/>
              <a:ea typeface="Lexend"/>
              <a:cs typeface="Lexend"/>
              <a:sym typeface="Lexend"/>
            </a:endParaRPr>
          </a:p>
          <a:p>
            <a:pPr marL="457200" lvl="0" indent="0" algn="just" rtl="0">
              <a:lnSpc>
                <a:spcPct val="150000"/>
              </a:lnSpc>
              <a:spcBef>
                <a:spcPts val="0"/>
              </a:spcBef>
              <a:spcAft>
                <a:spcPts val="0"/>
              </a:spcAft>
              <a:buNone/>
            </a:pPr>
            <a:endParaRPr>
              <a:solidFill>
                <a:schemeClr val="lt1"/>
              </a:solidFill>
              <a:latin typeface="Lexend"/>
              <a:ea typeface="Lexend"/>
              <a:cs typeface="Lexend"/>
              <a:sym typeface="Lexend"/>
            </a:endParaRPr>
          </a:p>
          <a:p>
            <a:pPr marL="457200" lvl="0" indent="-317500" algn="just" rtl="0">
              <a:lnSpc>
                <a:spcPct val="150000"/>
              </a:lnSpc>
              <a:spcBef>
                <a:spcPts val="0"/>
              </a:spcBef>
              <a:spcAft>
                <a:spcPts val="0"/>
              </a:spcAft>
              <a:buClr>
                <a:schemeClr val="lt1"/>
              </a:buClr>
              <a:buSzPts val="1400"/>
              <a:buFont typeface="Lexend"/>
              <a:buChar char="➢"/>
            </a:pPr>
            <a:r>
              <a:rPr lang="en">
                <a:solidFill>
                  <a:schemeClr val="lt1"/>
                </a:solidFill>
                <a:latin typeface="Lexend"/>
                <a:ea typeface="Lexend"/>
                <a:cs typeface="Lexend"/>
                <a:sym typeface="Lexend"/>
              </a:rPr>
              <a:t>Security Firmware Updates: Many users are deterred from downloading important large security firmware updates on the cellular device due to costs associated with data usage. </a:t>
            </a:r>
            <a:endParaRPr>
              <a:solidFill>
                <a:schemeClr val="lt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148675"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b="1">
                <a:solidFill>
                  <a:srgbClr val="00FFFF"/>
                </a:solidFill>
                <a:latin typeface="Lexend"/>
                <a:ea typeface="Lexend"/>
                <a:cs typeface="Lexend"/>
                <a:sym typeface="Lexend"/>
              </a:rPr>
              <a:t>Work Breakdown Structure</a:t>
            </a:r>
            <a:endParaRPr sz="2520" b="1">
              <a:solidFill>
                <a:srgbClr val="00FFFF"/>
              </a:solidFill>
              <a:latin typeface="Lexend"/>
              <a:ea typeface="Lexend"/>
              <a:cs typeface="Lexend"/>
              <a:sym typeface="Lexend"/>
            </a:endParaRPr>
          </a:p>
        </p:txBody>
      </p:sp>
      <p:pic>
        <p:nvPicPr>
          <p:cNvPr id="108" name="Google Shape;108;p19" title="Work Breakdown Structure (WBS).png"/>
          <p:cNvPicPr preferRelativeResize="0"/>
          <p:nvPr/>
        </p:nvPicPr>
        <p:blipFill>
          <a:blip r:embed="rId3">
            <a:alphaModFix/>
          </a:blip>
          <a:stretch>
            <a:fillRect/>
          </a:stretch>
        </p:blipFill>
        <p:spPr>
          <a:xfrm>
            <a:off x="4428700" y="1112325"/>
            <a:ext cx="4642150" cy="3820974"/>
          </a:xfrm>
          <a:prstGeom prst="rect">
            <a:avLst/>
          </a:prstGeom>
          <a:noFill/>
          <a:ln>
            <a:noFill/>
          </a:ln>
        </p:spPr>
      </p:pic>
      <p:sp>
        <p:nvSpPr>
          <p:cNvPr id="109" name="Google Shape;109;p19"/>
          <p:cNvSpPr txBox="1"/>
          <p:nvPr/>
        </p:nvSpPr>
        <p:spPr>
          <a:xfrm>
            <a:off x="301200" y="1699300"/>
            <a:ext cx="3964500" cy="19566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1250">
                <a:solidFill>
                  <a:schemeClr val="lt1"/>
                </a:solidFill>
                <a:latin typeface="Lexend"/>
                <a:ea typeface="Lexend"/>
                <a:cs typeface="Lexend"/>
                <a:sym typeface="Lexend"/>
              </a:rPr>
              <a:t>The WBS breaks the project down into 5 stages: </a:t>
            </a:r>
            <a:endParaRPr sz="1250">
              <a:solidFill>
                <a:schemeClr val="lt1"/>
              </a:solidFill>
              <a:latin typeface="Lexend"/>
              <a:ea typeface="Lexend"/>
              <a:cs typeface="Lexend"/>
              <a:sym typeface="Lexend"/>
            </a:endParaRPr>
          </a:p>
          <a:p>
            <a:pPr marL="0" lvl="0" indent="0" algn="just" rtl="0">
              <a:spcBef>
                <a:spcPts val="0"/>
              </a:spcBef>
              <a:spcAft>
                <a:spcPts val="0"/>
              </a:spcAft>
              <a:buNone/>
            </a:pPr>
            <a:endParaRPr sz="1250">
              <a:solidFill>
                <a:schemeClr val="lt1"/>
              </a:solidFill>
              <a:latin typeface="Lexend"/>
              <a:ea typeface="Lexend"/>
              <a:cs typeface="Lexend"/>
              <a:sym typeface="Lexend"/>
            </a:endParaRPr>
          </a:p>
          <a:p>
            <a:pPr marL="0" lvl="0" indent="0" algn="l" rtl="0">
              <a:spcBef>
                <a:spcPts val="0"/>
              </a:spcBef>
              <a:spcAft>
                <a:spcPts val="0"/>
              </a:spcAft>
              <a:buNone/>
            </a:pPr>
            <a:r>
              <a:rPr lang="en" sz="1250">
                <a:solidFill>
                  <a:schemeClr val="lt1"/>
                </a:solidFill>
                <a:latin typeface="Lexend"/>
                <a:ea typeface="Lexend"/>
                <a:cs typeface="Lexend"/>
                <a:sym typeface="Lexend"/>
              </a:rPr>
              <a:t>Preparation, Planning, Development, Testing and Release. The hierarchical approach allows for a systematic flow from theoretical studies, modelling of vulnerabilities to final dissemination of tested security recommendations.</a:t>
            </a:r>
            <a:r>
              <a:rPr lang="en" sz="1200">
                <a:solidFill>
                  <a:schemeClr val="lt1"/>
                </a:solidFill>
                <a:latin typeface="Lexend"/>
                <a:ea typeface="Lexend"/>
                <a:cs typeface="Lexend"/>
                <a:sym typeface="Lexend"/>
              </a:rPr>
              <a:t> </a:t>
            </a:r>
            <a:endParaRPr sz="1900">
              <a:solidFill>
                <a:schemeClr val="lt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113"/>
        <p:cNvGrpSpPr/>
        <p:nvPr/>
      </p:nvGrpSpPr>
      <p:grpSpPr>
        <a:xfrm>
          <a:off x="0" y="0"/>
          <a:ext cx="0" cy="0"/>
          <a:chOff x="0" y="0"/>
          <a:chExt cx="0" cy="0"/>
        </a:xfrm>
      </p:grpSpPr>
      <p:sp>
        <p:nvSpPr>
          <p:cNvPr id="114" name="Google Shape;114;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0FFFF"/>
                </a:solidFill>
                <a:latin typeface="Lexend"/>
                <a:ea typeface="Lexend"/>
                <a:cs typeface="Lexend"/>
                <a:sym typeface="Lexend"/>
              </a:rPr>
              <a:t>Project Plan and Timeline</a:t>
            </a:r>
            <a:endParaRPr b="1">
              <a:solidFill>
                <a:srgbClr val="00FFFF"/>
              </a:solidFill>
              <a:latin typeface="Lexend"/>
              <a:ea typeface="Lexend"/>
              <a:cs typeface="Lexend"/>
              <a:sym typeface="Lexend"/>
            </a:endParaRPr>
          </a:p>
        </p:txBody>
      </p:sp>
      <p:pic>
        <p:nvPicPr>
          <p:cNvPr id="115" name="Google Shape;115;p20"/>
          <p:cNvPicPr preferRelativeResize="0"/>
          <p:nvPr/>
        </p:nvPicPr>
        <p:blipFill rotWithShape="1">
          <a:blip r:embed="rId3">
            <a:alphaModFix/>
          </a:blip>
          <a:srcRect l="3223" t="21753"/>
          <a:stretch/>
        </p:blipFill>
        <p:spPr>
          <a:xfrm>
            <a:off x="3407550" y="1246075"/>
            <a:ext cx="5620600" cy="2989900"/>
          </a:xfrm>
          <a:prstGeom prst="rect">
            <a:avLst/>
          </a:prstGeom>
          <a:noFill/>
          <a:ln>
            <a:noFill/>
          </a:ln>
        </p:spPr>
      </p:pic>
      <p:sp>
        <p:nvSpPr>
          <p:cNvPr id="116" name="Google Shape;116;p20"/>
          <p:cNvSpPr txBox="1"/>
          <p:nvPr/>
        </p:nvSpPr>
        <p:spPr>
          <a:xfrm>
            <a:off x="309725" y="1486325"/>
            <a:ext cx="2909100" cy="2749800"/>
          </a:xfrm>
          <a:prstGeom prst="rect">
            <a:avLst/>
          </a:prstGeom>
          <a:noFill/>
          <a:ln>
            <a:noFill/>
          </a:ln>
        </p:spPr>
        <p:txBody>
          <a:bodyPr spcFirstLastPara="1" wrap="square" lIns="91425" tIns="91425" rIns="91425" bIns="91425" anchor="t" anchorCtr="0">
            <a:noAutofit/>
          </a:bodyPr>
          <a:lstStyle/>
          <a:p>
            <a:pPr marL="457200" lvl="0" indent="-298450" algn="just" rtl="0">
              <a:spcBef>
                <a:spcPts val="0"/>
              </a:spcBef>
              <a:spcAft>
                <a:spcPts val="0"/>
              </a:spcAft>
              <a:buClr>
                <a:schemeClr val="lt1"/>
              </a:buClr>
              <a:buSzPts val="1100"/>
              <a:buFont typeface="Lexend"/>
              <a:buChar char="➢"/>
            </a:pPr>
            <a:r>
              <a:rPr lang="en" sz="1100">
                <a:solidFill>
                  <a:schemeClr val="lt1"/>
                </a:solidFill>
                <a:latin typeface="Lexend"/>
                <a:ea typeface="Lexend"/>
                <a:cs typeface="Lexend"/>
                <a:sym typeface="Lexend"/>
              </a:rPr>
              <a:t>Duration: 12 weeks</a:t>
            </a:r>
            <a:endParaRPr sz="1100">
              <a:solidFill>
                <a:schemeClr val="lt1"/>
              </a:solidFill>
              <a:latin typeface="Lexend"/>
              <a:ea typeface="Lexend"/>
              <a:cs typeface="Lexend"/>
              <a:sym typeface="Lexend"/>
            </a:endParaRPr>
          </a:p>
          <a:p>
            <a:pPr marL="457200" lvl="0" indent="0" algn="just" rtl="0">
              <a:spcBef>
                <a:spcPts val="0"/>
              </a:spcBef>
              <a:spcAft>
                <a:spcPts val="0"/>
              </a:spcAft>
              <a:buNone/>
            </a:pPr>
            <a:endParaRPr sz="1100">
              <a:solidFill>
                <a:schemeClr val="lt1"/>
              </a:solidFill>
              <a:latin typeface="Lexend"/>
              <a:ea typeface="Lexend"/>
              <a:cs typeface="Lexend"/>
              <a:sym typeface="Lexend"/>
            </a:endParaRPr>
          </a:p>
          <a:p>
            <a:pPr marL="457200" lvl="0" indent="-298450" algn="just" rtl="0">
              <a:spcBef>
                <a:spcPts val="0"/>
              </a:spcBef>
              <a:spcAft>
                <a:spcPts val="0"/>
              </a:spcAft>
              <a:buClr>
                <a:schemeClr val="lt1"/>
              </a:buClr>
              <a:buSzPts val="1100"/>
              <a:buFont typeface="Lexend"/>
              <a:buChar char="➢"/>
            </a:pPr>
            <a:r>
              <a:rPr lang="en" sz="1100">
                <a:solidFill>
                  <a:schemeClr val="lt1"/>
                </a:solidFill>
                <a:latin typeface="Lexend"/>
                <a:ea typeface="Lexend"/>
                <a:cs typeface="Lexend"/>
                <a:sym typeface="Lexend"/>
              </a:rPr>
              <a:t>Milestones: Preparation, Planning will be completed in mid June. Then, The Development,Testing and Release phases.</a:t>
            </a:r>
            <a:endParaRPr sz="1100">
              <a:solidFill>
                <a:schemeClr val="lt1"/>
              </a:solidFill>
              <a:latin typeface="Lexend"/>
              <a:ea typeface="Lexend"/>
              <a:cs typeface="Lexend"/>
              <a:sym typeface="Lexend"/>
            </a:endParaRPr>
          </a:p>
          <a:p>
            <a:pPr marL="457200" lvl="0" indent="0" algn="just" rtl="0">
              <a:spcBef>
                <a:spcPts val="0"/>
              </a:spcBef>
              <a:spcAft>
                <a:spcPts val="0"/>
              </a:spcAft>
              <a:buNone/>
            </a:pPr>
            <a:endParaRPr sz="1100">
              <a:solidFill>
                <a:schemeClr val="lt1"/>
              </a:solidFill>
              <a:latin typeface="Lexend"/>
              <a:ea typeface="Lexend"/>
              <a:cs typeface="Lexend"/>
              <a:sym typeface="Lexend"/>
            </a:endParaRPr>
          </a:p>
          <a:p>
            <a:pPr marL="457200" lvl="0" indent="-298450" algn="just" rtl="0">
              <a:spcBef>
                <a:spcPts val="0"/>
              </a:spcBef>
              <a:spcAft>
                <a:spcPts val="0"/>
              </a:spcAft>
              <a:buClr>
                <a:schemeClr val="lt1"/>
              </a:buClr>
              <a:buSzPts val="1100"/>
              <a:buFont typeface="Lexend"/>
              <a:buChar char="➢"/>
            </a:pPr>
            <a:r>
              <a:rPr lang="en" sz="1100">
                <a:solidFill>
                  <a:schemeClr val="lt1"/>
                </a:solidFill>
                <a:latin typeface="Lexend"/>
                <a:ea typeface="Lexend"/>
                <a:cs typeface="Lexend"/>
                <a:sym typeface="Lexend"/>
              </a:rPr>
              <a:t>Team Roles: Project is managed by  Project Manager, assisted by Data Analysts, IoT Security Specialists, and Faculty Advisors. </a:t>
            </a:r>
            <a:endParaRPr sz="1100">
              <a:solidFill>
                <a:schemeClr val="lt1"/>
              </a:solidFill>
              <a:latin typeface="Lexend"/>
              <a:ea typeface="Lexend"/>
              <a:cs typeface="Lexend"/>
              <a:sym typeface="Lexend"/>
            </a:endParaRPr>
          </a:p>
          <a:p>
            <a:pPr marL="0" lvl="0" indent="0" algn="l" rtl="0">
              <a:spcBef>
                <a:spcPts val="0"/>
              </a:spcBef>
              <a:spcAft>
                <a:spcPts val="0"/>
              </a:spcAft>
              <a:buNone/>
            </a:pPr>
            <a:endParaRPr sz="1200">
              <a:solidFill>
                <a:schemeClr val="lt1"/>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0FFFF"/>
                </a:solidFill>
                <a:latin typeface="Lexend"/>
                <a:ea typeface="Lexend"/>
                <a:cs typeface="Lexend"/>
                <a:sym typeface="Lexend"/>
              </a:rPr>
              <a:t>Planning Decisions</a:t>
            </a:r>
            <a:endParaRPr b="1">
              <a:solidFill>
                <a:srgbClr val="00FFFF"/>
              </a:solidFill>
              <a:latin typeface="Lexend"/>
              <a:ea typeface="Lexend"/>
              <a:cs typeface="Lexend"/>
              <a:sym typeface="Lexend"/>
            </a:endParaRPr>
          </a:p>
        </p:txBody>
      </p:sp>
      <p:sp>
        <p:nvSpPr>
          <p:cNvPr id="122" name="Google Shape;122;p21"/>
          <p:cNvSpPr/>
          <p:nvPr/>
        </p:nvSpPr>
        <p:spPr>
          <a:xfrm>
            <a:off x="455600" y="1675125"/>
            <a:ext cx="3741300" cy="2479800"/>
          </a:xfrm>
          <a:prstGeom prst="roundRect">
            <a:avLst>
              <a:gd name="adj" fmla="val 16667"/>
            </a:avLst>
          </a:prstGeom>
          <a:solidFill>
            <a:srgbClr val="0B5394"/>
          </a:solid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 name="Google Shape;123;p21"/>
          <p:cNvSpPr txBox="1"/>
          <p:nvPr/>
        </p:nvSpPr>
        <p:spPr>
          <a:xfrm>
            <a:off x="858925" y="1881050"/>
            <a:ext cx="2857500" cy="30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chemeClr val="lt1"/>
                </a:solidFill>
                <a:latin typeface="Lexend"/>
                <a:ea typeface="Lexend"/>
                <a:cs typeface="Lexend"/>
                <a:sym typeface="Lexend"/>
              </a:rPr>
              <a:t>Structural Approach </a:t>
            </a:r>
            <a:endParaRPr sz="1500" b="1">
              <a:solidFill>
                <a:schemeClr val="lt1"/>
              </a:solidFill>
              <a:latin typeface="Lexend"/>
              <a:ea typeface="Lexend"/>
              <a:cs typeface="Lexend"/>
              <a:sym typeface="Lexend"/>
            </a:endParaRPr>
          </a:p>
        </p:txBody>
      </p:sp>
      <p:sp>
        <p:nvSpPr>
          <p:cNvPr id="124" name="Google Shape;124;p21"/>
          <p:cNvSpPr txBox="1"/>
          <p:nvPr/>
        </p:nvSpPr>
        <p:spPr>
          <a:xfrm>
            <a:off x="652975" y="2361600"/>
            <a:ext cx="3406800" cy="1330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a:solidFill>
                  <a:schemeClr val="lt1"/>
                </a:solidFill>
                <a:latin typeface="Lexend"/>
                <a:ea typeface="Lexend"/>
                <a:cs typeface="Lexend"/>
                <a:sym typeface="Lexend"/>
              </a:rPr>
              <a:t>This 5-phase hierarchical strategy allows to complete theoretical research and threat modeling before trying to create complex security solutions. </a:t>
            </a:r>
            <a:endParaRPr>
              <a:solidFill>
                <a:schemeClr val="lt1"/>
              </a:solidFill>
              <a:latin typeface="Lexend"/>
              <a:ea typeface="Lexend"/>
              <a:cs typeface="Lexend"/>
              <a:sym typeface="Lexend"/>
            </a:endParaRPr>
          </a:p>
        </p:txBody>
      </p:sp>
      <p:sp>
        <p:nvSpPr>
          <p:cNvPr id="125" name="Google Shape;125;p21"/>
          <p:cNvSpPr/>
          <p:nvPr/>
        </p:nvSpPr>
        <p:spPr>
          <a:xfrm>
            <a:off x="4872800" y="1675125"/>
            <a:ext cx="3741300" cy="2479800"/>
          </a:xfrm>
          <a:prstGeom prst="roundRect">
            <a:avLst>
              <a:gd name="adj" fmla="val 16667"/>
            </a:avLst>
          </a:prstGeom>
          <a:solidFill>
            <a:srgbClr val="0B5394"/>
          </a:solid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 name="Google Shape;126;p21"/>
          <p:cNvSpPr txBox="1"/>
          <p:nvPr/>
        </p:nvSpPr>
        <p:spPr>
          <a:xfrm>
            <a:off x="5314700" y="1930475"/>
            <a:ext cx="2857500" cy="30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chemeClr val="lt1"/>
                </a:solidFill>
                <a:latin typeface="Lexend"/>
                <a:ea typeface="Lexend"/>
                <a:cs typeface="Lexend"/>
                <a:sym typeface="Lexend"/>
              </a:rPr>
              <a:t>Timeline Alignment </a:t>
            </a:r>
            <a:endParaRPr sz="1500" b="1">
              <a:solidFill>
                <a:schemeClr val="lt1"/>
              </a:solidFill>
              <a:latin typeface="Lexend"/>
              <a:ea typeface="Lexend"/>
              <a:cs typeface="Lexend"/>
              <a:sym typeface="Lexend"/>
            </a:endParaRPr>
          </a:p>
        </p:txBody>
      </p:sp>
      <p:sp>
        <p:nvSpPr>
          <p:cNvPr id="127" name="Google Shape;127;p21"/>
          <p:cNvSpPr txBox="1"/>
          <p:nvPr/>
        </p:nvSpPr>
        <p:spPr>
          <a:xfrm>
            <a:off x="5040050" y="2361600"/>
            <a:ext cx="3406800" cy="1330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a:solidFill>
                  <a:schemeClr val="lt1"/>
                </a:solidFill>
                <a:latin typeface="Lexend"/>
                <a:ea typeface="Lexend"/>
                <a:cs typeface="Lexend"/>
                <a:sym typeface="Lexend"/>
              </a:rPr>
              <a:t>This 5-phase hierarchical strategy allows to complete theoretical research and threat modeling before trying to create complex security solutions. </a:t>
            </a:r>
            <a:endParaRPr>
              <a:solidFill>
                <a:schemeClr val="lt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131"/>
        <p:cNvGrpSpPr/>
        <p:nvPr/>
      </p:nvGrpSpPr>
      <p:grpSpPr>
        <a:xfrm>
          <a:off x="0" y="0"/>
          <a:ext cx="0" cy="0"/>
          <a:chOff x="0" y="0"/>
          <a:chExt cx="0" cy="0"/>
        </a:xfrm>
      </p:grpSpPr>
      <p:sp>
        <p:nvSpPr>
          <p:cNvPr id="132" name="Google Shape;132;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0FFFF"/>
                </a:solidFill>
                <a:latin typeface="Lexend"/>
                <a:ea typeface="Lexend"/>
                <a:cs typeface="Lexend"/>
                <a:sym typeface="Lexend"/>
              </a:rPr>
              <a:t>Risks &amp; Benefits</a:t>
            </a:r>
            <a:endParaRPr b="1">
              <a:solidFill>
                <a:srgbClr val="00FFFF"/>
              </a:solidFill>
              <a:latin typeface="Lexend"/>
              <a:ea typeface="Lexend"/>
              <a:cs typeface="Lexend"/>
              <a:sym typeface="Lexend"/>
            </a:endParaRPr>
          </a:p>
        </p:txBody>
      </p:sp>
      <p:sp>
        <p:nvSpPr>
          <p:cNvPr id="133" name="Google Shape;133;p22"/>
          <p:cNvSpPr/>
          <p:nvPr/>
        </p:nvSpPr>
        <p:spPr>
          <a:xfrm>
            <a:off x="464175" y="1452000"/>
            <a:ext cx="4107900" cy="3029100"/>
          </a:xfrm>
          <a:prstGeom prst="roundRect">
            <a:avLst>
              <a:gd name="adj" fmla="val 16667"/>
            </a:avLst>
          </a:prstGeom>
          <a:solidFill>
            <a:srgbClr val="0B5394"/>
          </a:solid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 name="Google Shape;134;p22"/>
          <p:cNvSpPr/>
          <p:nvPr/>
        </p:nvSpPr>
        <p:spPr>
          <a:xfrm>
            <a:off x="4932850" y="1452000"/>
            <a:ext cx="4107900" cy="3029100"/>
          </a:xfrm>
          <a:prstGeom prst="roundRect">
            <a:avLst>
              <a:gd name="adj" fmla="val 16667"/>
            </a:avLst>
          </a:prstGeom>
          <a:solidFill>
            <a:srgbClr val="0B5394"/>
          </a:solid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Google Shape;135;p22"/>
          <p:cNvSpPr txBox="1"/>
          <p:nvPr/>
        </p:nvSpPr>
        <p:spPr>
          <a:xfrm>
            <a:off x="721625" y="1649375"/>
            <a:ext cx="2351100" cy="25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lt1"/>
                </a:solidFill>
                <a:latin typeface="Lexend"/>
                <a:ea typeface="Lexend"/>
                <a:cs typeface="Lexend"/>
                <a:sym typeface="Lexend"/>
              </a:rPr>
              <a:t>Project Benefits</a:t>
            </a:r>
            <a:endParaRPr sz="1500">
              <a:solidFill>
                <a:schemeClr val="lt1"/>
              </a:solidFill>
              <a:latin typeface="Lexend"/>
              <a:ea typeface="Lexend"/>
              <a:cs typeface="Lexend"/>
              <a:sym typeface="Lexend"/>
            </a:endParaRPr>
          </a:p>
        </p:txBody>
      </p:sp>
      <p:sp>
        <p:nvSpPr>
          <p:cNvPr id="136" name="Google Shape;136;p22"/>
          <p:cNvSpPr txBox="1"/>
          <p:nvPr/>
        </p:nvSpPr>
        <p:spPr>
          <a:xfrm>
            <a:off x="721625" y="2241475"/>
            <a:ext cx="3518100" cy="1836300"/>
          </a:xfrm>
          <a:prstGeom prst="rect">
            <a:avLst/>
          </a:prstGeom>
          <a:noFill/>
          <a:ln>
            <a:noFill/>
          </a:ln>
        </p:spPr>
        <p:txBody>
          <a:bodyPr spcFirstLastPara="1" wrap="square" lIns="91425" tIns="91425" rIns="91425" bIns="91425" anchor="t" anchorCtr="0">
            <a:noAutofit/>
          </a:bodyPr>
          <a:lstStyle/>
          <a:p>
            <a:pPr marL="457200" lvl="0" indent="-298450" algn="just" rtl="0">
              <a:spcBef>
                <a:spcPts val="0"/>
              </a:spcBef>
              <a:spcAft>
                <a:spcPts val="0"/>
              </a:spcAft>
              <a:buClr>
                <a:schemeClr val="lt1"/>
              </a:buClr>
              <a:buSzPts val="1100"/>
              <a:buFont typeface="Lexend"/>
              <a:buChar char="●"/>
            </a:pPr>
            <a:r>
              <a:rPr lang="en" sz="1100">
                <a:solidFill>
                  <a:schemeClr val="lt1"/>
                </a:solidFill>
                <a:latin typeface="Lexend"/>
                <a:ea typeface="Lexend"/>
                <a:cs typeface="Lexend"/>
                <a:sym typeface="Lexend"/>
              </a:rPr>
              <a:t>Significantly improves the security posture of the University when it comes to digital security.</a:t>
            </a:r>
            <a:endParaRPr sz="1100">
              <a:solidFill>
                <a:schemeClr val="lt1"/>
              </a:solidFill>
              <a:latin typeface="Lexend"/>
              <a:ea typeface="Lexend"/>
              <a:cs typeface="Lexend"/>
              <a:sym typeface="Lexend"/>
            </a:endParaRPr>
          </a:p>
          <a:p>
            <a:pPr marL="457200" lvl="0" indent="0" algn="just" rtl="0">
              <a:spcBef>
                <a:spcPts val="0"/>
              </a:spcBef>
              <a:spcAft>
                <a:spcPts val="0"/>
              </a:spcAft>
              <a:buNone/>
            </a:pPr>
            <a:endParaRPr sz="1100">
              <a:solidFill>
                <a:schemeClr val="lt1"/>
              </a:solidFill>
              <a:latin typeface="Lexend"/>
              <a:ea typeface="Lexend"/>
              <a:cs typeface="Lexend"/>
              <a:sym typeface="Lexend"/>
            </a:endParaRPr>
          </a:p>
          <a:p>
            <a:pPr marL="457200" lvl="0" indent="-298450" algn="just" rtl="0">
              <a:spcBef>
                <a:spcPts val="0"/>
              </a:spcBef>
              <a:spcAft>
                <a:spcPts val="0"/>
              </a:spcAft>
              <a:buClr>
                <a:schemeClr val="lt1"/>
              </a:buClr>
              <a:buSzPts val="1100"/>
              <a:buFont typeface="Lexend"/>
              <a:buChar char="●"/>
            </a:pPr>
            <a:r>
              <a:rPr lang="en" sz="1100">
                <a:solidFill>
                  <a:schemeClr val="lt1"/>
                </a:solidFill>
                <a:latin typeface="Lexend"/>
                <a:ea typeface="Lexend"/>
                <a:cs typeface="Lexend"/>
                <a:sym typeface="Lexend"/>
              </a:rPr>
              <a:t>Makes sound suggestions to safeguard academics and monetary records.</a:t>
            </a:r>
            <a:endParaRPr sz="1100">
              <a:solidFill>
                <a:schemeClr val="lt1"/>
              </a:solidFill>
              <a:latin typeface="Lexend"/>
              <a:ea typeface="Lexend"/>
              <a:cs typeface="Lexend"/>
              <a:sym typeface="Lexend"/>
            </a:endParaRPr>
          </a:p>
          <a:p>
            <a:pPr marL="457200" lvl="0" indent="0" algn="just" rtl="0">
              <a:spcBef>
                <a:spcPts val="0"/>
              </a:spcBef>
              <a:spcAft>
                <a:spcPts val="0"/>
              </a:spcAft>
              <a:buNone/>
            </a:pPr>
            <a:endParaRPr sz="1100">
              <a:solidFill>
                <a:schemeClr val="lt1"/>
              </a:solidFill>
              <a:latin typeface="Lexend"/>
              <a:ea typeface="Lexend"/>
              <a:cs typeface="Lexend"/>
              <a:sym typeface="Lexend"/>
            </a:endParaRPr>
          </a:p>
          <a:p>
            <a:pPr marL="457200" lvl="0" indent="-298450" algn="just" rtl="0">
              <a:spcBef>
                <a:spcPts val="0"/>
              </a:spcBef>
              <a:spcAft>
                <a:spcPts val="0"/>
              </a:spcAft>
              <a:buClr>
                <a:schemeClr val="lt1"/>
              </a:buClr>
              <a:buSzPts val="1100"/>
              <a:buFont typeface="Lexend"/>
              <a:buChar char="●"/>
            </a:pPr>
            <a:r>
              <a:rPr lang="en" sz="1100">
                <a:solidFill>
                  <a:schemeClr val="lt1"/>
                </a:solidFill>
                <a:latin typeface="Lexend"/>
                <a:ea typeface="Lexend"/>
                <a:cs typeface="Lexend"/>
                <a:sym typeface="Lexend"/>
              </a:rPr>
              <a:t>Develops a repeatable research process for vulnerability assessment in the future. </a:t>
            </a:r>
            <a:endParaRPr sz="1100">
              <a:solidFill>
                <a:schemeClr val="lt1"/>
              </a:solidFill>
              <a:latin typeface="Lexend"/>
              <a:ea typeface="Lexend"/>
              <a:cs typeface="Lexend"/>
              <a:sym typeface="Lexend"/>
            </a:endParaRPr>
          </a:p>
        </p:txBody>
      </p:sp>
      <p:sp>
        <p:nvSpPr>
          <p:cNvPr id="137" name="Google Shape;137;p22"/>
          <p:cNvSpPr txBox="1"/>
          <p:nvPr/>
        </p:nvSpPr>
        <p:spPr>
          <a:xfrm>
            <a:off x="5276125" y="1649375"/>
            <a:ext cx="2351100" cy="25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lt1"/>
                </a:solidFill>
                <a:latin typeface="Lexend"/>
                <a:ea typeface="Lexend"/>
                <a:cs typeface="Lexend"/>
                <a:sym typeface="Lexend"/>
              </a:rPr>
              <a:t>Project Risks</a:t>
            </a:r>
            <a:endParaRPr sz="1500">
              <a:solidFill>
                <a:schemeClr val="lt1"/>
              </a:solidFill>
              <a:latin typeface="Lexend"/>
              <a:ea typeface="Lexend"/>
              <a:cs typeface="Lexend"/>
              <a:sym typeface="Lexend"/>
            </a:endParaRPr>
          </a:p>
        </p:txBody>
      </p:sp>
      <p:sp>
        <p:nvSpPr>
          <p:cNvPr id="138" name="Google Shape;138;p22"/>
          <p:cNvSpPr txBox="1"/>
          <p:nvPr/>
        </p:nvSpPr>
        <p:spPr>
          <a:xfrm>
            <a:off x="5227750" y="2290900"/>
            <a:ext cx="3518100" cy="1836300"/>
          </a:xfrm>
          <a:prstGeom prst="rect">
            <a:avLst/>
          </a:prstGeom>
          <a:noFill/>
          <a:ln>
            <a:noFill/>
          </a:ln>
        </p:spPr>
        <p:txBody>
          <a:bodyPr spcFirstLastPara="1" wrap="square" lIns="91425" tIns="91425" rIns="91425" bIns="91425" anchor="t" anchorCtr="0">
            <a:noAutofit/>
          </a:bodyPr>
          <a:lstStyle/>
          <a:p>
            <a:pPr marL="457200" lvl="0" indent="-298450" algn="just" rtl="0">
              <a:spcBef>
                <a:spcPts val="0"/>
              </a:spcBef>
              <a:spcAft>
                <a:spcPts val="0"/>
              </a:spcAft>
              <a:buClr>
                <a:schemeClr val="lt1"/>
              </a:buClr>
              <a:buSzPts val="1100"/>
              <a:buFont typeface="Lexend"/>
              <a:buChar char="●"/>
            </a:pPr>
            <a:r>
              <a:rPr lang="en" sz="1100">
                <a:solidFill>
                  <a:schemeClr val="lt1"/>
                </a:solidFill>
                <a:latin typeface="Lexend"/>
                <a:ea typeface="Lexend"/>
                <a:cs typeface="Lexend"/>
                <a:sym typeface="Lexend"/>
              </a:rPr>
              <a:t>Schedule: Reduced length of time for wide testing.</a:t>
            </a:r>
            <a:endParaRPr sz="1100">
              <a:solidFill>
                <a:schemeClr val="lt1"/>
              </a:solidFill>
              <a:latin typeface="Lexend"/>
              <a:ea typeface="Lexend"/>
              <a:cs typeface="Lexend"/>
              <a:sym typeface="Lexend"/>
            </a:endParaRPr>
          </a:p>
          <a:p>
            <a:pPr marL="457200" lvl="0" indent="0" algn="just" rtl="0">
              <a:spcBef>
                <a:spcPts val="0"/>
              </a:spcBef>
              <a:spcAft>
                <a:spcPts val="0"/>
              </a:spcAft>
              <a:buNone/>
            </a:pPr>
            <a:endParaRPr sz="1100">
              <a:solidFill>
                <a:schemeClr val="lt1"/>
              </a:solidFill>
              <a:latin typeface="Lexend"/>
              <a:ea typeface="Lexend"/>
              <a:cs typeface="Lexend"/>
              <a:sym typeface="Lexend"/>
            </a:endParaRPr>
          </a:p>
          <a:p>
            <a:pPr marL="457200" lvl="0" indent="-298450" algn="just" rtl="0">
              <a:spcBef>
                <a:spcPts val="0"/>
              </a:spcBef>
              <a:spcAft>
                <a:spcPts val="0"/>
              </a:spcAft>
              <a:buClr>
                <a:schemeClr val="lt1"/>
              </a:buClr>
              <a:buSzPts val="1100"/>
              <a:buFont typeface="Lexend"/>
              <a:buChar char="●"/>
            </a:pPr>
            <a:r>
              <a:rPr lang="en" sz="1100">
                <a:solidFill>
                  <a:schemeClr val="lt1"/>
                </a:solidFill>
                <a:latin typeface="Lexend"/>
                <a:ea typeface="Lexend"/>
                <a:cs typeface="Lexend"/>
                <a:sym typeface="Lexend"/>
              </a:rPr>
              <a:t>Low Survey Generalizability: Number of responses to survey is low (46 responses).</a:t>
            </a:r>
            <a:endParaRPr sz="1100">
              <a:solidFill>
                <a:schemeClr val="lt1"/>
              </a:solidFill>
              <a:latin typeface="Lexend"/>
              <a:ea typeface="Lexend"/>
              <a:cs typeface="Lexend"/>
              <a:sym typeface="Lexend"/>
            </a:endParaRPr>
          </a:p>
          <a:p>
            <a:pPr marL="457200" lvl="0" indent="0" algn="just" rtl="0">
              <a:spcBef>
                <a:spcPts val="0"/>
              </a:spcBef>
              <a:spcAft>
                <a:spcPts val="0"/>
              </a:spcAft>
              <a:buNone/>
            </a:pPr>
            <a:endParaRPr sz="1100">
              <a:solidFill>
                <a:schemeClr val="lt1"/>
              </a:solidFill>
              <a:latin typeface="Lexend"/>
              <a:ea typeface="Lexend"/>
              <a:cs typeface="Lexend"/>
              <a:sym typeface="Lexend"/>
            </a:endParaRPr>
          </a:p>
          <a:p>
            <a:pPr marL="457200" lvl="0" indent="-298450" algn="just" rtl="0">
              <a:spcBef>
                <a:spcPts val="0"/>
              </a:spcBef>
              <a:spcAft>
                <a:spcPts val="0"/>
              </a:spcAft>
              <a:buClr>
                <a:schemeClr val="lt1"/>
              </a:buClr>
              <a:buSzPts val="1100"/>
              <a:buFont typeface="Lexend"/>
              <a:buChar char="●"/>
            </a:pPr>
            <a:r>
              <a:rPr lang="en" sz="1100">
                <a:solidFill>
                  <a:schemeClr val="lt1"/>
                </a:solidFill>
                <a:latin typeface="Lexend"/>
                <a:ea typeface="Lexend"/>
                <a:cs typeface="Lexend"/>
                <a:sym typeface="Lexend"/>
              </a:rPr>
              <a:t>External Factors: Shifting threats in the cyber world and budget constraints. </a:t>
            </a:r>
            <a:endParaRPr sz="1100">
              <a:solidFill>
                <a:schemeClr val="lt1"/>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142"/>
        <p:cNvGrpSpPr/>
        <p:nvPr/>
      </p:nvGrpSpPr>
      <p:grpSpPr>
        <a:xfrm>
          <a:off x="0" y="0"/>
          <a:ext cx="0" cy="0"/>
          <a:chOff x="0" y="0"/>
          <a:chExt cx="0" cy="0"/>
        </a:xfrm>
      </p:grpSpPr>
      <p:sp>
        <p:nvSpPr>
          <p:cNvPr id="143" name="Google Shape;14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0FFFF"/>
                </a:solidFill>
                <a:latin typeface="Lexend"/>
                <a:ea typeface="Lexend"/>
                <a:cs typeface="Lexend"/>
                <a:sym typeface="Lexend"/>
              </a:rPr>
              <a:t>Technical Recommendations</a:t>
            </a:r>
            <a:endParaRPr b="1">
              <a:solidFill>
                <a:srgbClr val="00FFFF"/>
              </a:solidFill>
              <a:latin typeface="Lexend"/>
              <a:ea typeface="Lexend"/>
              <a:cs typeface="Lexend"/>
              <a:sym typeface="Lexend"/>
            </a:endParaRPr>
          </a:p>
        </p:txBody>
      </p:sp>
      <p:grpSp>
        <p:nvGrpSpPr>
          <p:cNvPr id="144" name="Google Shape;144;p23"/>
          <p:cNvGrpSpPr/>
          <p:nvPr/>
        </p:nvGrpSpPr>
        <p:grpSpPr>
          <a:xfrm>
            <a:off x="5632317" y="1189775"/>
            <a:ext cx="3305700" cy="3483050"/>
            <a:chOff x="5632317" y="1189775"/>
            <a:chExt cx="3305700" cy="3483050"/>
          </a:xfrm>
        </p:grpSpPr>
        <p:sp>
          <p:nvSpPr>
            <p:cNvPr id="145" name="Google Shape;145;p23"/>
            <p:cNvSpPr/>
            <p:nvPr/>
          </p:nvSpPr>
          <p:spPr>
            <a:xfrm>
              <a:off x="5632317" y="1189775"/>
              <a:ext cx="3305700" cy="669000"/>
            </a:xfrm>
            <a:prstGeom prst="chevron">
              <a:avLst>
                <a:gd name="adj" fmla="val 50000"/>
              </a:avLst>
            </a:prstGeom>
            <a:solidFill>
              <a:srgbClr val="1155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50" b="1">
                  <a:solidFill>
                    <a:schemeClr val="lt1"/>
                  </a:solidFill>
                  <a:latin typeface="Lexend"/>
                  <a:ea typeface="Lexend"/>
                  <a:cs typeface="Lexend"/>
                  <a:sym typeface="Lexend"/>
                </a:rPr>
                <a:t>Resilient Authentication</a:t>
              </a:r>
              <a:r>
                <a:rPr lang="en" sz="1100">
                  <a:solidFill>
                    <a:schemeClr val="dk1"/>
                  </a:solidFill>
                </a:rPr>
                <a:t> </a:t>
              </a:r>
              <a:endParaRPr>
                <a:solidFill>
                  <a:srgbClr val="FFFFFF"/>
                </a:solidFill>
                <a:latin typeface="Roboto"/>
                <a:ea typeface="Roboto"/>
                <a:cs typeface="Roboto"/>
                <a:sym typeface="Roboto"/>
              </a:endParaRPr>
            </a:p>
          </p:txBody>
        </p:sp>
        <p:sp>
          <p:nvSpPr>
            <p:cNvPr id="146" name="Google Shape;146;p23"/>
            <p:cNvSpPr txBox="1"/>
            <p:nvPr/>
          </p:nvSpPr>
          <p:spPr>
            <a:xfrm>
              <a:off x="6167063" y="2057125"/>
              <a:ext cx="22362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lt1"/>
                  </a:solidFill>
                  <a:latin typeface="Lexend"/>
                  <a:ea typeface="Lexend"/>
                  <a:cs typeface="Lexend"/>
                  <a:sym typeface="Lexend"/>
                </a:rPr>
                <a:t>Eliminate credential stuffing and credential overload by using Passkeys or smartphone-linked biometric authentication instead of traditional passwords. </a:t>
              </a:r>
              <a:endParaRPr sz="1200">
                <a:solidFill>
                  <a:schemeClr val="lt1"/>
                </a:solidFill>
                <a:latin typeface="Lexend"/>
                <a:ea typeface="Lexend"/>
                <a:cs typeface="Lexend"/>
                <a:sym typeface="Lexend"/>
              </a:endParaRPr>
            </a:p>
          </p:txBody>
        </p:sp>
      </p:grpSp>
      <p:grpSp>
        <p:nvGrpSpPr>
          <p:cNvPr id="147" name="Google Shape;147;p23"/>
          <p:cNvGrpSpPr/>
          <p:nvPr/>
        </p:nvGrpSpPr>
        <p:grpSpPr>
          <a:xfrm>
            <a:off x="0" y="1189989"/>
            <a:ext cx="3546900" cy="3482836"/>
            <a:chOff x="0" y="1189989"/>
            <a:chExt cx="3546900" cy="3482836"/>
          </a:xfrm>
        </p:grpSpPr>
        <p:sp>
          <p:nvSpPr>
            <p:cNvPr id="148" name="Google Shape;148;p23"/>
            <p:cNvSpPr/>
            <p:nvPr/>
          </p:nvSpPr>
          <p:spPr>
            <a:xfrm>
              <a:off x="0" y="1189989"/>
              <a:ext cx="3546900" cy="669000"/>
            </a:xfrm>
            <a:prstGeom prst="homePlate">
              <a:avLst>
                <a:gd name="adj" fmla="val 50000"/>
              </a:avLst>
            </a:prstGeom>
            <a:solidFill>
              <a:srgbClr val="2012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50" b="1">
                  <a:solidFill>
                    <a:schemeClr val="lt1"/>
                  </a:solidFill>
                  <a:latin typeface="Lexend"/>
                  <a:ea typeface="Lexend"/>
                  <a:cs typeface="Lexend"/>
                  <a:sym typeface="Lexend"/>
                </a:rPr>
                <a:t>Offline-First Upgrades</a:t>
              </a:r>
              <a:r>
                <a:rPr lang="en" sz="1100">
                  <a:solidFill>
                    <a:schemeClr val="dk1"/>
                  </a:solidFill>
                </a:rPr>
                <a:t> </a:t>
              </a:r>
              <a:endParaRPr>
                <a:solidFill>
                  <a:srgbClr val="FFFFFF"/>
                </a:solidFill>
                <a:latin typeface="Roboto"/>
                <a:ea typeface="Roboto"/>
                <a:cs typeface="Roboto"/>
                <a:sym typeface="Roboto"/>
              </a:endParaRPr>
            </a:p>
          </p:txBody>
        </p:sp>
        <p:sp>
          <p:nvSpPr>
            <p:cNvPr id="149" name="Google Shape;149;p23"/>
            <p:cNvSpPr txBox="1"/>
            <p:nvPr/>
          </p:nvSpPr>
          <p:spPr>
            <a:xfrm>
              <a:off x="655350" y="2057125"/>
              <a:ext cx="22890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lt1"/>
                  </a:solidFill>
                  <a:latin typeface="Lexend"/>
                  <a:ea typeface="Lexend"/>
                  <a:cs typeface="Lexend"/>
                  <a:sym typeface="Lexend"/>
                </a:rPr>
                <a:t>Use USB or local LAN configuration to update the firmware and fully avoid the danger of "bricking" in case of sudden power failures and other circumstances. </a:t>
              </a:r>
              <a:endParaRPr sz="1200">
                <a:solidFill>
                  <a:schemeClr val="lt1"/>
                </a:solidFill>
                <a:latin typeface="Lexend"/>
                <a:ea typeface="Lexend"/>
                <a:cs typeface="Lexend"/>
                <a:sym typeface="Lexend"/>
              </a:endParaRPr>
            </a:p>
          </p:txBody>
        </p:sp>
      </p:grpSp>
      <p:grpSp>
        <p:nvGrpSpPr>
          <p:cNvPr id="150" name="Google Shape;150;p23"/>
          <p:cNvGrpSpPr/>
          <p:nvPr/>
        </p:nvGrpSpPr>
        <p:grpSpPr>
          <a:xfrm>
            <a:off x="2944204" y="1189775"/>
            <a:ext cx="3305700" cy="3483050"/>
            <a:chOff x="2944204" y="1189775"/>
            <a:chExt cx="3305700" cy="3483050"/>
          </a:xfrm>
        </p:grpSpPr>
        <p:sp>
          <p:nvSpPr>
            <p:cNvPr id="151" name="Google Shape;151;p23"/>
            <p:cNvSpPr/>
            <p:nvPr/>
          </p:nvSpPr>
          <p:spPr>
            <a:xfrm>
              <a:off x="2944204" y="1189775"/>
              <a:ext cx="3305700" cy="669000"/>
            </a:xfrm>
            <a:prstGeom prst="chevron">
              <a:avLst>
                <a:gd name="adj" fmla="val 50000"/>
              </a:avLst>
            </a:prstGeom>
            <a:solidFill>
              <a:srgbClr val="351C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Dual-Firmware Banks </a:t>
              </a:r>
              <a:endParaRPr sz="1200" b="1">
                <a:solidFill>
                  <a:schemeClr val="lt1"/>
                </a:solidFill>
                <a:latin typeface="Lexend"/>
                <a:ea typeface="Lexend"/>
                <a:cs typeface="Lexend"/>
                <a:sym typeface="Lexend"/>
              </a:endParaRPr>
            </a:p>
          </p:txBody>
        </p:sp>
        <p:sp>
          <p:nvSpPr>
            <p:cNvPr id="152" name="Google Shape;152;p23"/>
            <p:cNvSpPr txBox="1"/>
            <p:nvPr/>
          </p:nvSpPr>
          <p:spPr>
            <a:xfrm>
              <a:off x="3478949" y="2057125"/>
              <a:ext cx="22362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lt1"/>
                  </a:solidFill>
                  <a:latin typeface="Lexend"/>
                  <a:ea typeface="Lexend"/>
                  <a:cs typeface="Lexend"/>
                  <a:sym typeface="Lexend"/>
                </a:rPr>
                <a:t>Focus on getting devices to backup to an OS version, so that you will be safe if an over the air update goes wrong. </a:t>
              </a:r>
              <a:endParaRPr sz="1200">
                <a:solidFill>
                  <a:schemeClr val="lt1"/>
                </a:solidFill>
                <a:latin typeface="Lexend"/>
                <a:ea typeface="Lexend"/>
                <a:cs typeface="Lexend"/>
                <a:sym typeface="Lexend"/>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156"/>
        <p:cNvGrpSpPr/>
        <p:nvPr/>
      </p:nvGrpSpPr>
      <p:grpSpPr>
        <a:xfrm>
          <a:off x="0" y="0"/>
          <a:ext cx="0" cy="0"/>
          <a:chOff x="0" y="0"/>
          <a:chExt cx="0" cy="0"/>
        </a:xfrm>
      </p:grpSpPr>
      <p:sp>
        <p:nvSpPr>
          <p:cNvPr id="157" name="Google Shape;157;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0FFFF"/>
                </a:solidFill>
                <a:latin typeface="Lexend"/>
                <a:ea typeface="Lexend"/>
                <a:cs typeface="Lexend"/>
                <a:sym typeface="Lexend"/>
              </a:rPr>
              <a:t>Non-Technical Recommendations</a:t>
            </a:r>
            <a:endParaRPr b="1">
              <a:solidFill>
                <a:srgbClr val="00FFFF"/>
              </a:solidFill>
              <a:latin typeface="Lexend"/>
              <a:ea typeface="Lexend"/>
              <a:cs typeface="Lexend"/>
              <a:sym typeface="Lexend"/>
            </a:endParaRPr>
          </a:p>
        </p:txBody>
      </p:sp>
      <p:grpSp>
        <p:nvGrpSpPr>
          <p:cNvPr id="158" name="Google Shape;158;p24"/>
          <p:cNvGrpSpPr/>
          <p:nvPr/>
        </p:nvGrpSpPr>
        <p:grpSpPr>
          <a:xfrm>
            <a:off x="5632317" y="1189775"/>
            <a:ext cx="3305700" cy="3483050"/>
            <a:chOff x="5632317" y="1189775"/>
            <a:chExt cx="3305700" cy="3483050"/>
          </a:xfrm>
        </p:grpSpPr>
        <p:sp>
          <p:nvSpPr>
            <p:cNvPr id="159" name="Google Shape;159;p24"/>
            <p:cNvSpPr/>
            <p:nvPr/>
          </p:nvSpPr>
          <p:spPr>
            <a:xfrm>
              <a:off x="5632317" y="1189775"/>
              <a:ext cx="3305700" cy="669000"/>
            </a:xfrm>
            <a:prstGeom prst="chevron">
              <a:avLst>
                <a:gd name="adj" fmla="val 50000"/>
              </a:avLst>
            </a:prstGeom>
            <a:solidFill>
              <a:srgbClr val="1155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Community Support </a:t>
              </a:r>
              <a:r>
                <a:rPr lang="en" sz="1100">
                  <a:solidFill>
                    <a:schemeClr val="dk1"/>
                  </a:solidFill>
                </a:rPr>
                <a:t> </a:t>
              </a:r>
              <a:endParaRPr>
                <a:solidFill>
                  <a:srgbClr val="FFFFFF"/>
                </a:solidFill>
                <a:latin typeface="Roboto"/>
                <a:ea typeface="Roboto"/>
                <a:cs typeface="Roboto"/>
                <a:sym typeface="Roboto"/>
              </a:endParaRPr>
            </a:p>
          </p:txBody>
        </p:sp>
        <p:sp>
          <p:nvSpPr>
            <p:cNvPr id="160" name="Google Shape;160;p24"/>
            <p:cNvSpPr txBox="1"/>
            <p:nvPr/>
          </p:nvSpPr>
          <p:spPr>
            <a:xfrm>
              <a:off x="6167063" y="2057125"/>
              <a:ext cx="22362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lt1"/>
                  </a:solidFill>
                  <a:latin typeface="Lexend"/>
                  <a:ea typeface="Lexend"/>
                  <a:cs typeface="Lexend"/>
                  <a:sym typeface="Lexend"/>
                </a:rPr>
                <a:t>Fill skill gaps in the region actively, address it in local tech community trainings and document particularly easily. </a:t>
              </a:r>
              <a:endParaRPr sz="1200">
                <a:solidFill>
                  <a:schemeClr val="lt1"/>
                </a:solidFill>
                <a:latin typeface="Lexend"/>
                <a:ea typeface="Lexend"/>
                <a:cs typeface="Lexend"/>
                <a:sym typeface="Lexend"/>
              </a:endParaRPr>
            </a:p>
          </p:txBody>
        </p:sp>
      </p:grpSp>
      <p:grpSp>
        <p:nvGrpSpPr>
          <p:cNvPr id="161" name="Google Shape;161;p24"/>
          <p:cNvGrpSpPr/>
          <p:nvPr/>
        </p:nvGrpSpPr>
        <p:grpSpPr>
          <a:xfrm>
            <a:off x="0" y="1189989"/>
            <a:ext cx="3546900" cy="3482836"/>
            <a:chOff x="0" y="1189989"/>
            <a:chExt cx="3546900" cy="3482836"/>
          </a:xfrm>
        </p:grpSpPr>
        <p:sp>
          <p:nvSpPr>
            <p:cNvPr id="162" name="Google Shape;162;p24"/>
            <p:cNvSpPr/>
            <p:nvPr/>
          </p:nvSpPr>
          <p:spPr>
            <a:xfrm>
              <a:off x="0" y="1189989"/>
              <a:ext cx="3546900" cy="669000"/>
            </a:xfrm>
            <a:prstGeom prst="homePlate">
              <a:avLst>
                <a:gd name="adj" fmla="val 50000"/>
              </a:avLst>
            </a:prstGeom>
            <a:solidFill>
              <a:srgbClr val="20124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50" b="1">
                  <a:solidFill>
                    <a:schemeClr val="lt1"/>
                  </a:solidFill>
                  <a:latin typeface="Lexend"/>
                  <a:ea typeface="Lexend"/>
                  <a:cs typeface="Lexend"/>
                  <a:sym typeface="Lexend"/>
                </a:rPr>
                <a:t>Security Blueprints</a:t>
              </a:r>
              <a:r>
                <a:rPr lang="en" sz="1100">
                  <a:solidFill>
                    <a:schemeClr val="dk1"/>
                  </a:solidFill>
                </a:rPr>
                <a:t>  </a:t>
              </a:r>
              <a:endParaRPr>
                <a:solidFill>
                  <a:srgbClr val="FFFFFF"/>
                </a:solidFill>
                <a:latin typeface="Roboto"/>
                <a:ea typeface="Roboto"/>
                <a:cs typeface="Roboto"/>
                <a:sym typeface="Roboto"/>
              </a:endParaRPr>
            </a:p>
          </p:txBody>
        </p:sp>
        <p:sp>
          <p:nvSpPr>
            <p:cNvPr id="163" name="Google Shape;163;p24"/>
            <p:cNvSpPr txBox="1"/>
            <p:nvPr/>
          </p:nvSpPr>
          <p:spPr>
            <a:xfrm>
              <a:off x="655350" y="2057125"/>
              <a:ext cx="22890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lt1"/>
                  </a:solidFill>
                  <a:latin typeface="Lexend"/>
                  <a:ea typeface="Lexend"/>
                  <a:cs typeface="Lexend"/>
                  <a:sym typeface="Lexend"/>
                </a:rPr>
                <a:t>Create playbooks to guide the setup of Wi-Fi networks, to clearly separate IoT from the outside world. </a:t>
              </a:r>
              <a:endParaRPr sz="1200">
                <a:solidFill>
                  <a:schemeClr val="lt1"/>
                </a:solidFill>
                <a:latin typeface="Lexend"/>
                <a:ea typeface="Lexend"/>
                <a:cs typeface="Lexend"/>
                <a:sym typeface="Lexend"/>
              </a:endParaRPr>
            </a:p>
          </p:txBody>
        </p:sp>
      </p:grpSp>
      <p:grpSp>
        <p:nvGrpSpPr>
          <p:cNvPr id="164" name="Google Shape;164;p24"/>
          <p:cNvGrpSpPr/>
          <p:nvPr/>
        </p:nvGrpSpPr>
        <p:grpSpPr>
          <a:xfrm>
            <a:off x="2944204" y="1189775"/>
            <a:ext cx="3305700" cy="3483050"/>
            <a:chOff x="2944204" y="1189775"/>
            <a:chExt cx="3305700" cy="3483050"/>
          </a:xfrm>
        </p:grpSpPr>
        <p:sp>
          <p:nvSpPr>
            <p:cNvPr id="165" name="Google Shape;165;p24"/>
            <p:cNvSpPr/>
            <p:nvPr/>
          </p:nvSpPr>
          <p:spPr>
            <a:xfrm>
              <a:off x="2944204" y="1189775"/>
              <a:ext cx="3305700" cy="669000"/>
            </a:xfrm>
            <a:prstGeom prst="chevron">
              <a:avLst>
                <a:gd name="adj" fmla="val 50000"/>
              </a:avLst>
            </a:prstGeom>
            <a:solidFill>
              <a:srgbClr val="351C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50" b="1">
                  <a:solidFill>
                    <a:schemeClr val="lt1"/>
                  </a:solidFill>
                  <a:latin typeface="Lexend"/>
                  <a:ea typeface="Lexend"/>
                  <a:cs typeface="Lexend"/>
                  <a:sym typeface="Lexend"/>
                </a:rPr>
                <a:t>Failure Audits</a:t>
              </a:r>
              <a:r>
                <a:rPr lang="en" sz="1100">
                  <a:solidFill>
                    <a:schemeClr val="dk1"/>
                  </a:solidFill>
                </a:rPr>
                <a:t> </a:t>
              </a:r>
              <a:endParaRPr sz="1200" b="1">
                <a:solidFill>
                  <a:schemeClr val="lt1"/>
                </a:solidFill>
                <a:latin typeface="Lexend"/>
                <a:ea typeface="Lexend"/>
                <a:cs typeface="Lexend"/>
                <a:sym typeface="Lexend"/>
              </a:endParaRPr>
            </a:p>
          </p:txBody>
        </p:sp>
        <p:sp>
          <p:nvSpPr>
            <p:cNvPr id="166" name="Google Shape;166;p24"/>
            <p:cNvSpPr txBox="1"/>
            <p:nvPr/>
          </p:nvSpPr>
          <p:spPr>
            <a:xfrm>
              <a:off x="3478949" y="2057125"/>
              <a:ext cx="22362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lt1"/>
                  </a:solidFill>
                  <a:latin typeface="Lexend"/>
                  <a:ea typeface="Lexend"/>
                  <a:cs typeface="Lexend"/>
                  <a:sym typeface="Lexend"/>
                </a:rPr>
                <a:t>Train users to check for settings after a power failure to avoid restorations to insecure factory defaults. </a:t>
              </a:r>
              <a:endParaRPr sz="1200">
                <a:solidFill>
                  <a:schemeClr val="lt1"/>
                </a:solidFill>
                <a:latin typeface="Lexend"/>
                <a:ea typeface="Lexend"/>
                <a:cs typeface="Lexend"/>
                <a:sym typeface="Lexend"/>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0FFFF"/>
                </a:solidFill>
                <a:latin typeface="Lexend"/>
                <a:ea typeface="Lexend"/>
                <a:cs typeface="Lexend"/>
                <a:sym typeface="Lexend"/>
              </a:rPr>
              <a:t>Conclusion</a:t>
            </a:r>
            <a:endParaRPr b="1">
              <a:solidFill>
                <a:srgbClr val="00FFFF"/>
              </a:solidFill>
              <a:latin typeface="Lexend"/>
              <a:ea typeface="Lexend"/>
              <a:cs typeface="Lexend"/>
              <a:sym typeface="Lexend"/>
            </a:endParaRPr>
          </a:p>
        </p:txBody>
      </p:sp>
      <p:sp>
        <p:nvSpPr>
          <p:cNvPr id="172" name="Google Shape;172;p25"/>
          <p:cNvSpPr txBox="1">
            <a:spLocks noGrp="1"/>
          </p:cNvSpPr>
          <p:nvPr>
            <p:ph type="title"/>
          </p:nvPr>
        </p:nvSpPr>
        <p:spPr>
          <a:xfrm>
            <a:off x="408875" y="181885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50" b="1">
                <a:solidFill>
                  <a:schemeClr val="lt1"/>
                </a:solidFill>
                <a:latin typeface="Comfortaa"/>
                <a:ea typeface="Comfortaa"/>
                <a:cs typeface="Comfortaa"/>
                <a:sym typeface="Comfortaa"/>
              </a:rPr>
              <a:t>“The key to securing a network against a grid failure is to make it resilient to that failure and to keep the user in mind with passkeys”</a:t>
            </a:r>
            <a:endParaRPr sz="3300" b="1">
              <a:solidFill>
                <a:schemeClr val="lt1"/>
              </a:solidFill>
              <a:latin typeface="Comfortaa"/>
              <a:ea typeface="Comfortaa"/>
              <a:cs typeface="Comfortaa"/>
              <a:sym typeface="Comfortaa"/>
            </a:endParaRPr>
          </a:p>
        </p:txBody>
      </p:sp>
      <p:sp>
        <p:nvSpPr>
          <p:cNvPr id="173" name="Google Shape;173;p25"/>
          <p:cNvSpPr txBox="1"/>
          <p:nvPr/>
        </p:nvSpPr>
        <p:spPr>
          <a:xfrm>
            <a:off x="3789575" y="2816400"/>
            <a:ext cx="1759200" cy="41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D9D9D9"/>
                </a:solidFill>
              </a:rPr>
              <a:t>Summary</a:t>
            </a:r>
            <a:endParaRPr sz="1800">
              <a:solidFill>
                <a:srgbClr val="D9D9D9"/>
              </a:solidFill>
            </a:endParaRPr>
          </a:p>
        </p:txBody>
      </p:sp>
      <p:sp>
        <p:nvSpPr>
          <p:cNvPr id="174" name="Google Shape;174;p25"/>
          <p:cNvSpPr txBox="1"/>
          <p:nvPr/>
        </p:nvSpPr>
        <p:spPr>
          <a:xfrm>
            <a:off x="893525" y="3562950"/>
            <a:ext cx="7551300" cy="99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lt1"/>
                </a:solidFill>
                <a:latin typeface="Lexend"/>
                <a:ea typeface="Lexend"/>
                <a:cs typeface="Lexend"/>
                <a:sym typeface="Lexend"/>
              </a:rPr>
              <a:t>The overall level of awareness of security is fairly good, but there are vulnerabilities in the infrastructure of Myanmar that can be exploited and result from various circumstances, and are not susceptible to a software patch. </a:t>
            </a:r>
            <a:endParaRPr sz="1200">
              <a:solidFill>
                <a:schemeClr val="lt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1A70FC"/>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873</Words>
  <Application>Microsoft Office PowerPoint</Application>
  <PresentationFormat>On-screen Show (16:9)</PresentationFormat>
  <Paragraphs>83</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Lexend Light</vt:lpstr>
      <vt:lpstr>Comfortaa</vt:lpstr>
      <vt:lpstr>Arial</vt:lpstr>
      <vt:lpstr>Roboto</vt:lpstr>
      <vt:lpstr>Lexend</vt:lpstr>
      <vt:lpstr>Simple Light</vt:lpstr>
      <vt:lpstr>Planning A Computing Project:  The Impact of Weak Authentication on IoT Device Security</vt:lpstr>
      <vt:lpstr>Project Overview &amp; Objectives</vt:lpstr>
      <vt:lpstr>Sector Analysis and Business Alignment</vt:lpstr>
      <vt:lpstr>Methodology and Reliability</vt:lpstr>
      <vt:lpstr>Key Findings: The Awareness Gap</vt:lpstr>
      <vt:lpstr>Challenges In Myanmar</vt:lpstr>
      <vt:lpstr>Work Breakdown Structure</vt:lpstr>
      <vt:lpstr>Project Plan and Timeline</vt:lpstr>
      <vt:lpstr>Planning Decisions</vt:lpstr>
      <vt:lpstr>Risks &amp; Benefits</vt:lpstr>
      <vt:lpstr>Technical Recommendations</vt:lpstr>
      <vt:lpstr>Non-Technical Recommendations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Thet Htoo Zin</cp:lastModifiedBy>
  <cp:revision>1</cp:revision>
  <dcterms:modified xsi:type="dcterms:W3CDTF">2026-06-26T02:12:24Z</dcterms:modified>
</cp:coreProperties>
</file>